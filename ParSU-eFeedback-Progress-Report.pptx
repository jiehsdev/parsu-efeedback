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Overall</c:v>
                </c:pt>
              </c:strCache>
            </c:strRef>
          </c:tx>
          <c:spPr>
            <a:solidFill>
              <a:schemeClr val="accent1"/>
            </a:solidFill>
            <a:ln w="9525" cap="flat">
              <a:solidFill>
                <a:srgbClr val="F9F9F9"/>
              </a:solidFill>
              <a:prstDash val="solid"/>
              <a:round/>
            </a:ln>
            <a:effectLst/>
          </c:spPr>
          <c:dPt>
            <c:idx val="0"/>
            <c:bubble3D val="0"/>
            <c:spPr>
              <a:solidFill>
                <a:srgbClr val="0284C7"/>
              </a:solidFill>
              <a:effectLst/>
            </c:spPr>
          </c:dPt>
          <c:dPt>
            <c:idx val="1"/>
            <c:bubble3D val="0"/>
            <c:spPr>
              <a:solidFill>
                <a:srgbClr val="CFE6F7"/>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Completed</c:v>
                </c:pt>
                <c:pt idx="1">
                  <c:v>Remaining</c:v>
                </c:pt>
              </c:strCache>
            </c:strRef>
          </c:cat>
          <c:val>
            <c:numRef>
              <c:f>Sheet1!$B$2:$B$3</c:f>
              <c:numCache>
                <c:ptCount val="2"/>
                <c:pt idx="0">
                  <c:v>50</c:v>
                </c:pt>
                <c:pt idx="1">
                  <c:v>50</c:v>
                </c:pt>
              </c:numCache>
            </c:numRef>
          </c:val>
        </c:ser>
        <c:firstSliceAng val="0"/>
        <c:holeSize val="6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9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3D91"/>
          </a:solidFill>
          <a:ln/>
        </p:spPr>
      </p:sp>
      <p:sp>
        <p:nvSpPr>
          <p:cNvPr id="3" name="Shape 1"/>
          <p:cNvSpPr/>
          <p:nvPr/>
        </p:nvSpPr>
        <p:spPr>
          <a:xfrm>
            <a:off x="0" y="0"/>
            <a:ext cx="228600" cy="6858000"/>
          </a:xfrm>
          <a:prstGeom prst="rect">
            <a:avLst/>
          </a:prstGeom>
          <a:solidFill>
            <a:srgbClr val="0284C7"/>
          </a:solidFill>
          <a:ln/>
        </p:spPr>
      </p:sp>
      <p:sp>
        <p:nvSpPr>
          <p:cNvPr id="4" name="Shape 2"/>
          <p:cNvSpPr/>
          <p:nvPr/>
        </p:nvSpPr>
        <p:spPr>
          <a:xfrm>
            <a:off x="9692640" y="-2011680"/>
            <a:ext cx="5486400" cy="5486400"/>
          </a:xfrm>
          <a:prstGeom prst="ellipse">
            <a:avLst/>
          </a:prstGeom>
          <a:solidFill>
            <a:srgbClr val="38BDF8">
              <a:alpha val="22000"/>
            </a:srgbClr>
          </a:solidFill>
          <a:ln/>
        </p:spPr>
      </p:sp>
      <p:sp>
        <p:nvSpPr>
          <p:cNvPr id="5" name="Shape 3"/>
          <p:cNvSpPr/>
          <p:nvPr/>
        </p:nvSpPr>
        <p:spPr>
          <a:xfrm>
            <a:off x="10607040" y="4206240"/>
            <a:ext cx="3657600" cy="3657600"/>
          </a:xfrm>
          <a:prstGeom prst="ellipse">
            <a:avLst/>
          </a:prstGeom>
          <a:solidFill>
            <a:srgbClr val="0284C7">
              <a:alpha val="40000"/>
            </a:srgbClr>
          </a:solidFill>
          <a:ln/>
        </p:spPr>
      </p:sp>
      <p:sp>
        <p:nvSpPr>
          <p:cNvPr id="6" name="Text 4"/>
          <p:cNvSpPr/>
          <p:nvPr/>
        </p:nvSpPr>
        <p:spPr>
          <a:xfrm>
            <a:off x="822960" y="1874520"/>
            <a:ext cx="8229600" cy="457200"/>
          </a:xfrm>
          <a:prstGeom prst="rect">
            <a:avLst/>
          </a:prstGeom>
          <a:noFill/>
          <a:ln/>
        </p:spPr>
        <p:txBody>
          <a:bodyPr wrap="square" rtlCol="0" anchor="ctr"/>
          <a:lstStyle/>
          <a:p>
            <a:pPr indent="0" marL="0">
              <a:buNone/>
            </a:pPr>
            <a:r>
              <a:rPr lang="en-US" sz="1800" b="1" spc="200" kern="0" dirty="0">
                <a:solidFill>
                  <a:srgbClr val="38BDF8"/>
                </a:solidFill>
                <a:latin typeface="Calibri" pitchFamily="34" charset="0"/>
                <a:ea typeface="Calibri" pitchFamily="34" charset="-122"/>
                <a:cs typeface="Calibri" pitchFamily="34" charset="-120"/>
              </a:rPr>
              <a:t>DEVELOPMENT PROGRESS REPORT</a:t>
            </a:r>
            <a:endParaRPr lang="en-US" sz="1800" dirty="0"/>
          </a:p>
        </p:txBody>
      </p:sp>
      <p:sp>
        <p:nvSpPr>
          <p:cNvPr id="7" name="Text 5"/>
          <p:cNvSpPr/>
          <p:nvPr/>
        </p:nvSpPr>
        <p:spPr>
          <a:xfrm>
            <a:off x="777240" y="2377440"/>
            <a:ext cx="9875520" cy="109728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ParSU e-Feedback System</a:t>
            </a:r>
            <a:endParaRPr lang="en-US" sz="4800" dirty="0"/>
          </a:p>
        </p:txBody>
      </p:sp>
      <p:sp>
        <p:nvSpPr>
          <p:cNvPr id="8" name="Text 6"/>
          <p:cNvSpPr/>
          <p:nvPr/>
        </p:nvSpPr>
        <p:spPr>
          <a:xfrm>
            <a:off x="822960" y="3429000"/>
            <a:ext cx="8961120" cy="457200"/>
          </a:xfrm>
          <a:prstGeom prst="rect">
            <a:avLst/>
          </a:prstGeom>
          <a:noFill/>
          <a:ln/>
        </p:spPr>
        <p:txBody>
          <a:bodyPr wrap="square" rtlCol="0" anchor="ctr"/>
          <a:lstStyle/>
          <a:p>
            <a:pPr indent="0" marL="0">
              <a:buNone/>
            </a:pPr>
            <a:r>
              <a:rPr lang="en-US" sz="2000" dirty="0">
                <a:solidFill>
                  <a:srgbClr val="CFE6F7"/>
                </a:solidFill>
                <a:latin typeface="Calibri" pitchFamily="34" charset="0"/>
                <a:ea typeface="Calibri" pitchFamily="34" charset="-122"/>
                <a:cs typeface="Calibri" pitchFamily="34" charset="-120"/>
              </a:rPr>
              <a:t>Complaint &amp; Feedback Management Platform for Partido State University</a:t>
            </a:r>
            <a:endParaRPr lang="en-US" sz="2000" dirty="0"/>
          </a:p>
        </p:txBody>
      </p:sp>
      <p:sp>
        <p:nvSpPr>
          <p:cNvPr id="9" name="Shape 7"/>
          <p:cNvSpPr/>
          <p:nvPr/>
        </p:nvSpPr>
        <p:spPr>
          <a:xfrm>
            <a:off x="822960" y="4160520"/>
            <a:ext cx="3063240" cy="822960"/>
          </a:xfrm>
          <a:prstGeom prst="roundRect">
            <a:avLst>
              <a:gd name="adj" fmla="val 8889"/>
            </a:avLst>
          </a:prstGeom>
          <a:solidFill>
            <a:srgbClr val="0284C7"/>
          </a:solidFill>
          <a:ln/>
        </p:spPr>
      </p:sp>
      <p:sp>
        <p:nvSpPr>
          <p:cNvPr id="10" name="Text 8"/>
          <p:cNvSpPr/>
          <p:nvPr/>
        </p:nvSpPr>
        <p:spPr>
          <a:xfrm>
            <a:off x="822960" y="4160520"/>
            <a:ext cx="3063240" cy="82296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50% COMPLETE</a:t>
            </a:r>
            <a:endParaRPr lang="en-US" sz="2400" dirty="0"/>
          </a:p>
        </p:txBody>
      </p:sp>
      <p:sp>
        <p:nvSpPr>
          <p:cNvPr id="11" name="Text 9"/>
          <p:cNvSpPr/>
          <p:nvPr/>
        </p:nvSpPr>
        <p:spPr>
          <a:xfrm>
            <a:off x="822960" y="5257800"/>
            <a:ext cx="7772400" cy="1188720"/>
          </a:xfrm>
          <a:prstGeom prst="rect">
            <a:avLst/>
          </a:prstGeom>
          <a:noFill/>
          <a:ln/>
        </p:spPr>
        <p:txBody>
          <a:bodyPr wrap="square" rtlCol="0" anchor="ctr"/>
          <a:lstStyle/>
          <a:p>
            <a:pPr indent="0" marL="0">
              <a:lnSpc>
                <a:spcPct val="150000"/>
              </a:lnSpc>
              <a:buNone/>
            </a:pPr>
            <a:r>
              <a:rPr lang="en-US" sz="1500" dirty="0">
                <a:solidFill>
                  <a:srgbClr val="CFE6F7"/>
                </a:solidFill>
                <a:latin typeface="Calibri" pitchFamily="34" charset="0"/>
                <a:ea typeface="Calibri" pitchFamily="34" charset="-122"/>
                <a:cs typeface="Calibri" pitchFamily="34" charset="-120"/>
              </a:rPr>
              <a:t>Prepared for: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Project Stakeholders &amp; Review Panel
</a:t>
            </a:r>
            <a:pPr indent="0" marL="0">
              <a:lnSpc>
                <a:spcPct val="150000"/>
              </a:lnSpc>
              <a:buNone/>
            </a:pPr>
            <a:r>
              <a:rPr lang="en-US" sz="1500" dirty="0">
                <a:solidFill>
                  <a:srgbClr val="CFE6F7"/>
                </a:solidFill>
                <a:latin typeface="Calibri" pitchFamily="34" charset="0"/>
                <a:ea typeface="Calibri" pitchFamily="34" charset="-122"/>
                <a:cs typeface="Calibri" pitchFamily="34" charset="-120"/>
              </a:rPr>
              <a:t>Reporting period: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Development Phase — Mid-Cycle Checkpoint
</a:t>
            </a:r>
            <a:pPr indent="0" marL="0">
              <a:lnSpc>
                <a:spcPct val="150000"/>
              </a:lnSpc>
              <a:buNone/>
            </a:pPr>
            <a:r>
              <a:rPr lang="en-US" sz="1500" dirty="0">
                <a:solidFill>
                  <a:srgbClr val="CFE6F7"/>
                </a:solidFill>
                <a:latin typeface="Calibri" pitchFamily="34" charset="0"/>
                <a:ea typeface="Calibri" pitchFamily="34" charset="-122"/>
                <a:cs typeface="Calibri" pitchFamily="34" charset="-120"/>
              </a:rPr>
              <a:t>Date: </a:t>
            </a:r>
            <a:pPr indent="0" marL="0">
              <a:lnSpc>
                <a:spcPct val="150000"/>
              </a:lnSpc>
              <a:buNone/>
            </a:pPr>
            <a:r>
              <a:rPr lang="en-US" sz="1500" b="1" dirty="0">
                <a:solidFill>
                  <a:srgbClr val="FFFFFF"/>
                </a:solidFill>
                <a:latin typeface="Calibri" pitchFamily="34" charset="0"/>
                <a:ea typeface="Calibri" pitchFamily="34" charset="-122"/>
                <a:cs typeface="Calibri" pitchFamily="34" charset="-120"/>
              </a:rPr>
              <a:t>August 18,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B3D91"/>
          </a:solidFill>
          <a:ln/>
        </p:spPr>
      </p:sp>
      <p:sp>
        <p:nvSpPr>
          <p:cNvPr id="3" name="Text 1"/>
          <p:cNvSpPr/>
          <p:nvPr/>
        </p:nvSpPr>
        <p:spPr>
          <a:xfrm>
            <a:off x="640080" y="365760"/>
            <a:ext cx="5486400" cy="73152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Agenda</a:t>
            </a:r>
            <a:endParaRPr lang="en-US" sz="3400" dirty="0"/>
          </a:p>
        </p:txBody>
      </p:sp>
      <p:sp>
        <p:nvSpPr>
          <p:cNvPr id="4" name="Shape 2"/>
          <p:cNvSpPr/>
          <p:nvPr/>
        </p:nvSpPr>
        <p:spPr>
          <a:xfrm>
            <a:off x="640080" y="1691640"/>
            <a:ext cx="621792" cy="621792"/>
          </a:xfrm>
          <a:prstGeom prst="roundRect">
            <a:avLst>
              <a:gd name="adj" fmla="val 14706"/>
            </a:avLst>
          </a:prstGeom>
          <a:solidFill>
            <a:srgbClr val="EAF4FC"/>
          </a:solidFill>
          <a:ln w="15875">
            <a:solidFill>
              <a:srgbClr val="CFE6F7"/>
            </a:solidFill>
            <a:prstDash val="solid"/>
          </a:ln>
        </p:spPr>
      </p:sp>
      <p:sp>
        <p:nvSpPr>
          <p:cNvPr id="5" name="Text 3"/>
          <p:cNvSpPr/>
          <p:nvPr/>
        </p:nvSpPr>
        <p:spPr>
          <a:xfrm>
            <a:off x="640080" y="1691640"/>
            <a:ext cx="621792" cy="621792"/>
          </a:xfrm>
          <a:prstGeom prst="rect">
            <a:avLst/>
          </a:prstGeom>
          <a:noFill/>
          <a:ln/>
        </p:spPr>
        <p:txBody>
          <a:bodyPr wrap="square" rtlCol="0" anchor="ctr"/>
          <a:lstStyle/>
          <a:p>
            <a:pPr algn="ctr" indent="0" marL="0">
              <a:buNone/>
            </a:pPr>
            <a:r>
              <a:rPr lang="en-US" sz="1700" b="1" dirty="0">
                <a:solidFill>
                  <a:srgbClr val="0284C7"/>
                </a:solidFill>
                <a:latin typeface="Calibri" pitchFamily="34" charset="0"/>
                <a:ea typeface="Calibri" pitchFamily="34" charset="-122"/>
                <a:cs typeface="Calibri" pitchFamily="34" charset="-120"/>
              </a:rPr>
              <a:t>01</a:t>
            </a:r>
            <a:endParaRPr lang="en-US" sz="1700" dirty="0"/>
          </a:p>
        </p:txBody>
      </p:sp>
      <p:sp>
        <p:nvSpPr>
          <p:cNvPr id="6" name="Text 4"/>
          <p:cNvSpPr/>
          <p:nvPr/>
        </p:nvSpPr>
        <p:spPr>
          <a:xfrm>
            <a:off x="1508760" y="1673352"/>
            <a:ext cx="5486400" cy="384048"/>
          </a:xfrm>
          <a:prstGeom prst="rect">
            <a:avLst/>
          </a:prstGeom>
          <a:noFill/>
          <a:ln/>
        </p:spPr>
        <p:txBody>
          <a:bodyPr wrap="square" rtlCol="0" anchor="ctr"/>
          <a:lstStyle/>
          <a:p>
            <a:pPr indent="0" marL="0">
              <a:buNone/>
            </a:pPr>
            <a:r>
              <a:rPr lang="en-US" sz="1800" b="1" dirty="0">
                <a:solidFill>
                  <a:srgbClr val="0B3D91"/>
                </a:solidFill>
                <a:latin typeface="Calibri" pitchFamily="34" charset="0"/>
                <a:ea typeface="Calibri" pitchFamily="34" charset="-122"/>
                <a:cs typeface="Calibri" pitchFamily="34" charset="-120"/>
              </a:rPr>
              <a:t>Project Overview</a:t>
            </a:r>
            <a:endParaRPr lang="en-US" sz="1800" dirty="0"/>
          </a:p>
        </p:txBody>
      </p:sp>
      <p:sp>
        <p:nvSpPr>
          <p:cNvPr id="7" name="Text 5"/>
          <p:cNvSpPr/>
          <p:nvPr/>
        </p:nvSpPr>
        <p:spPr>
          <a:xfrm>
            <a:off x="1508760" y="2039112"/>
            <a:ext cx="8046720" cy="320040"/>
          </a:xfrm>
          <a:prstGeom prst="rect">
            <a:avLst/>
          </a:prstGeom>
          <a:noFill/>
          <a:ln/>
        </p:spPr>
        <p:txBody>
          <a:bodyPr wrap="square" rtlCol="0" anchor="ctr"/>
          <a:lstStyle/>
          <a:p>
            <a:pPr indent="0" marL="0">
              <a:buNone/>
            </a:pPr>
            <a:r>
              <a:rPr lang="en-US" sz="1300" dirty="0">
                <a:solidFill>
                  <a:srgbClr val="5B7B99"/>
                </a:solidFill>
                <a:latin typeface="Calibri" pitchFamily="34" charset="0"/>
                <a:ea typeface="Calibri" pitchFamily="34" charset="-122"/>
                <a:cs typeface="Calibri" pitchFamily="34" charset="-120"/>
              </a:rPr>
              <a:t>Purpose, scope, and target users of the platform</a:t>
            </a:r>
            <a:endParaRPr lang="en-US" sz="1300" dirty="0"/>
          </a:p>
        </p:txBody>
      </p:sp>
      <p:sp>
        <p:nvSpPr>
          <p:cNvPr id="8" name="Shape 6"/>
          <p:cNvSpPr/>
          <p:nvPr/>
        </p:nvSpPr>
        <p:spPr>
          <a:xfrm>
            <a:off x="640080" y="2468880"/>
            <a:ext cx="621792" cy="621792"/>
          </a:xfrm>
          <a:prstGeom prst="roundRect">
            <a:avLst>
              <a:gd name="adj" fmla="val 14706"/>
            </a:avLst>
          </a:prstGeom>
          <a:solidFill>
            <a:srgbClr val="EAF4FC"/>
          </a:solidFill>
          <a:ln w="15875">
            <a:solidFill>
              <a:srgbClr val="CFE6F7"/>
            </a:solidFill>
            <a:prstDash val="solid"/>
          </a:ln>
        </p:spPr>
      </p:sp>
      <p:sp>
        <p:nvSpPr>
          <p:cNvPr id="9" name="Text 7"/>
          <p:cNvSpPr/>
          <p:nvPr/>
        </p:nvSpPr>
        <p:spPr>
          <a:xfrm>
            <a:off x="640080" y="2468880"/>
            <a:ext cx="621792" cy="621792"/>
          </a:xfrm>
          <a:prstGeom prst="rect">
            <a:avLst/>
          </a:prstGeom>
          <a:noFill/>
          <a:ln/>
        </p:spPr>
        <p:txBody>
          <a:bodyPr wrap="square" rtlCol="0" anchor="ctr"/>
          <a:lstStyle/>
          <a:p>
            <a:pPr algn="ctr" indent="0" marL="0">
              <a:buNone/>
            </a:pPr>
            <a:r>
              <a:rPr lang="en-US" sz="1700" b="1" dirty="0">
                <a:solidFill>
                  <a:srgbClr val="0284C7"/>
                </a:solidFill>
                <a:latin typeface="Calibri" pitchFamily="34" charset="0"/>
                <a:ea typeface="Calibri" pitchFamily="34" charset="-122"/>
                <a:cs typeface="Calibri" pitchFamily="34" charset="-120"/>
              </a:rPr>
              <a:t>02</a:t>
            </a:r>
            <a:endParaRPr lang="en-US" sz="1700" dirty="0"/>
          </a:p>
        </p:txBody>
      </p:sp>
      <p:sp>
        <p:nvSpPr>
          <p:cNvPr id="10" name="Text 8"/>
          <p:cNvSpPr/>
          <p:nvPr/>
        </p:nvSpPr>
        <p:spPr>
          <a:xfrm>
            <a:off x="1508760" y="2450592"/>
            <a:ext cx="5486400" cy="384048"/>
          </a:xfrm>
          <a:prstGeom prst="rect">
            <a:avLst/>
          </a:prstGeom>
          <a:noFill/>
          <a:ln/>
        </p:spPr>
        <p:txBody>
          <a:bodyPr wrap="square" rtlCol="0" anchor="ctr"/>
          <a:lstStyle/>
          <a:p>
            <a:pPr indent="0" marL="0">
              <a:buNone/>
            </a:pPr>
            <a:r>
              <a:rPr lang="en-US" sz="1800" b="1" dirty="0">
                <a:solidFill>
                  <a:srgbClr val="0B3D91"/>
                </a:solidFill>
                <a:latin typeface="Calibri" pitchFamily="34" charset="0"/>
                <a:ea typeface="Calibri" pitchFamily="34" charset="-122"/>
                <a:cs typeface="Calibri" pitchFamily="34" charset="-120"/>
              </a:rPr>
              <a:t>Progress at a Glance</a:t>
            </a:r>
            <a:endParaRPr lang="en-US" sz="1800" dirty="0"/>
          </a:p>
        </p:txBody>
      </p:sp>
      <p:sp>
        <p:nvSpPr>
          <p:cNvPr id="11" name="Text 9"/>
          <p:cNvSpPr/>
          <p:nvPr/>
        </p:nvSpPr>
        <p:spPr>
          <a:xfrm>
            <a:off x="1508760" y="2816352"/>
            <a:ext cx="8046720" cy="320040"/>
          </a:xfrm>
          <a:prstGeom prst="rect">
            <a:avLst/>
          </a:prstGeom>
          <a:noFill/>
          <a:ln/>
        </p:spPr>
        <p:txBody>
          <a:bodyPr wrap="square" rtlCol="0" anchor="ctr"/>
          <a:lstStyle/>
          <a:p>
            <a:pPr indent="0" marL="0">
              <a:buNone/>
            </a:pPr>
            <a:r>
              <a:rPr lang="en-US" sz="1300" dirty="0">
                <a:solidFill>
                  <a:srgbClr val="5B7B99"/>
                </a:solidFill>
                <a:latin typeface="Calibri" pitchFamily="34" charset="0"/>
                <a:ea typeface="Calibri" pitchFamily="34" charset="-122"/>
                <a:cs typeface="Calibri" pitchFamily="34" charset="-120"/>
              </a:rPr>
              <a:t>Overall completion status and delivery snapshot</a:t>
            </a:r>
            <a:endParaRPr lang="en-US" sz="1300" dirty="0"/>
          </a:p>
        </p:txBody>
      </p:sp>
      <p:sp>
        <p:nvSpPr>
          <p:cNvPr id="12" name="Shape 10"/>
          <p:cNvSpPr/>
          <p:nvPr/>
        </p:nvSpPr>
        <p:spPr>
          <a:xfrm>
            <a:off x="640080" y="3246120"/>
            <a:ext cx="621792" cy="621792"/>
          </a:xfrm>
          <a:prstGeom prst="roundRect">
            <a:avLst>
              <a:gd name="adj" fmla="val 14706"/>
            </a:avLst>
          </a:prstGeom>
          <a:solidFill>
            <a:srgbClr val="EAF4FC"/>
          </a:solidFill>
          <a:ln w="15875">
            <a:solidFill>
              <a:srgbClr val="CFE6F7"/>
            </a:solidFill>
            <a:prstDash val="solid"/>
          </a:ln>
        </p:spPr>
      </p:sp>
      <p:sp>
        <p:nvSpPr>
          <p:cNvPr id="13" name="Text 11"/>
          <p:cNvSpPr/>
          <p:nvPr/>
        </p:nvSpPr>
        <p:spPr>
          <a:xfrm>
            <a:off x="640080" y="3246120"/>
            <a:ext cx="621792" cy="621792"/>
          </a:xfrm>
          <a:prstGeom prst="rect">
            <a:avLst/>
          </a:prstGeom>
          <a:noFill/>
          <a:ln/>
        </p:spPr>
        <p:txBody>
          <a:bodyPr wrap="square" rtlCol="0" anchor="ctr"/>
          <a:lstStyle/>
          <a:p>
            <a:pPr algn="ctr" indent="0" marL="0">
              <a:buNone/>
            </a:pPr>
            <a:r>
              <a:rPr lang="en-US" sz="1700" b="1" dirty="0">
                <a:solidFill>
                  <a:srgbClr val="0284C7"/>
                </a:solidFill>
                <a:latin typeface="Calibri" pitchFamily="34" charset="0"/>
                <a:ea typeface="Calibri" pitchFamily="34" charset="-122"/>
                <a:cs typeface="Calibri" pitchFamily="34" charset="-120"/>
              </a:rPr>
              <a:t>03</a:t>
            </a:r>
            <a:endParaRPr lang="en-US" sz="1700" dirty="0"/>
          </a:p>
        </p:txBody>
      </p:sp>
      <p:sp>
        <p:nvSpPr>
          <p:cNvPr id="14" name="Text 12"/>
          <p:cNvSpPr/>
          <p:nvPr/>
        </p:nvSpPr>
        <p:spPr>
          <a:xfrm>
            <a:off x="1508760" y="3227832"/>
            <a:ext cx="5486400" cy="384048"/>
          </a:xfrm>
          <a:prstGeom prst="rect">
            <a:avLst/>
          </a:prstGeom>
          <a:noFill/>
          <a:ln/>
        </p:spPr>
        <p:txBody>
          <a:bodyPr wrap="square" rtlCol="0" anchor="ctr"/>
          <a:lstStyle/>
          <a:p>
            <a:pPr indent="0" marL="0">
              <a:buNone/>
            </a:pPr>
            <a:r>
              <a:rPr lang="en-US" sz="1800" b="1" dirty="0">
                <a:solidFill>
                  <a:srgbClr val="0B3D91"/>
                </a:solidFill>
                <a:latin typeface="Calibri" pitchFamily="34" charset="0"/>
                <a:ea typeface="Calibri" pitchFamily="34" charset="-122"/>
                <a:cs typeface="Calibri" pitchFamily="34" charset="-120"/>
              </a:rPr>
              <a:t>Completed Modules</a:t>
            </a:r>
            <a:endParaRPr lang="en-US" sz="1800" dirty="0"/>
          </a:p>
        </p:txBody>
      </p:sp>
      <p:sp>
        <p:nvSpPr>
          <p:cNvPr id="15" name="Text 13"/>
          <p:cNvSpPr/>
          <p:nvPr/>
        </p:nvSpPr>
        <p:spPr>
          <a:xfrm>
            <a:off x="1508760" y="3593592"/>
            <a:ext cx="8046720" cy="320040"/>
          </a:xfrm>
          <a:prstGeom prst="rect">
            <a:avLst/>
          </a:prstGeom>
          <a:noFill/>
          <a:ln/>
        </p:spPr>
        <p:txBody>
          <a:bodyPr wrap="square" rtlCol="0" anchor="ctr"/>
          <a:lstStyle/>
          <a:p>
            <a:pPr indent="0" marL="0">
              <a:buNone/>
            </a:pPr>
            <a:r>
              <a:rPr lang="en-US" sz="1300" dirty="0">
                <a:solidFill>
                  <a:srgbClr val="5B7B99"/>
                </a:solidFill>
                <a:latin typeface="Calibri" pitchFamily="34" charset="0"/>
                <a:ea typeface="Calibri" pitchFamily="34" charset="-122"/>
                <a:cs typeface="Calibri" pitchFamily="34" charset="-120"/>
              </a:rPr>
              <a:t>Features that are built, tested, and functioning</a:t>
            </a:r>
            <a:endParaRPr lang="en-US" sz="1300" dirty="0"/>
          </a:p>
        </p:txBody>
      </p:sp>
      <p:sp>
        <p:nvSpPr>
          <p:cNvPr id="16" name="Shape 14"/>
          <p:cNvSpPr/>
          <p:nvPr/>
        </p:nvSpPr>
        <p:spPr>
          <a:xfrm>
            <a:off x="640080" y="4023360"/>
            <a:ext cx="621792" cy="621792"/>
          </a:xfrm>
          <a:prstGeom prst="roundRect">
            <a:avLst>
              <a:gd name="adj" fmla="val 14706"/>
            </a:avLst>
          </a:prstGeom>
          <a:solidFill>
            <a:srgbClr val="EAF4FC"/>
          </a:solidFill>
          <a:ln w="15875">
            <a:solidFill>
              <a:srgbClr val="CFE6F7"/>
            </a:solidFill>
            <a:prstDash val="solid"/>
          </a:ln>
        </p:spPr>
      </p:sp>
      <p:sp>
        <p:nvSpPr>
          <p:cNvPr id="17" name="Text 15"/>
          <p:cNvSpPr/>
          <p:nvPr/>
        </p:nvSpPr>
        <p:spPr>
          <a:xfrm>
            <a:off x="640080" y="4023360"/>
            <a:ext cx="621792" cy="621792"/>
          </a:xfrm>
          <a:prstGeom prst="rect">
            <a:avLst/>
          </a:prstGeom>
          <a:noFill/>
          <a:ln/>
        </p:spPr>
        <p:txBody>
          <a:bodyPr wrap="square" rtlCol="0" anchor="ctr"/>
          <a:lstStyle/>
          <a:p>
            <a:pPr algn="ctr" indent="0" marL="0">
              <a:buNone/>
            </a:pPr>
            <a:r>
              <a:rPr lang="en-US" sz="1700" b="1" dirty="0">
                <a:solidFill>
                  <a:srgbClr val="0284C7"/>
                </a:solidFill>
                <a:latin typeface="Calibri" pitchFamily="34" charset="0"/>
                <a:ea typeface="Calibri" pitchFamily="34" charset="-122"/>
                <a:cs typeface="Calibri" pitchFamily="34" charset="-120"/>
              </a:rPr>
              <a:t>04</a:t>
            </a:r>
            <a:endParaRPr lang="en-US" sz="1700" dirty="0"/>
          </a:p>
        </p:txBody>
      </p:sp>
      <p:sp>
        <p:nvSpPr>
          <p:cNvPr id="18" name="Text 16"/>
          <p:cNvSpPr/>
          <p:nvPr/>
        </p:nvSpPr>
        <p:spPr>
          <a:xfrm>
            <a:off x="1508760" y="4005072"/>
            <a:ext cx="5486400" cy="384048"/>
          </a:xfrm>
          <a:prstGeom prst="rect">
            <a:avLst/>
          </a:prstGeom>
          <a:noFill/>
          <a:ln/>
        </p:spPr>
        <p:txBody>
          <a:bodyPr wrap="square" rtlCol="0" anchor="ctr"/>
          <a:lstStyle/>
          <a:p>
            <a:pPr indent="0" marL="0">
              <a:buNone/>
            </a:pPr>
            <a:r>
              <a:rPr lang="en-US" sz="1800" b="1" dirty="0">
                <a:solidFill>
                  <a:srgbClr val="0B3D91"/>
                </a:solidFill>
                <a:latin typeface="Calibri" pitchFamily="34" charset="0"/>
                <a:ea typeface="Calibri" pitchFamily="34" charset="-122"/>
                <a:cs typeface="Calibri" pitchFamily="34" charset="-120"/>
              </a:rPr>
              <a:t>Work In Progress &amp; Remaining</a:t>
            </a:r>
            <a:endParaRPr lang="en-US" sz="1800" dirty="0"/>
          </a:p>
        </p:txBody>
      </p:sp>
      <p:sp>
        <p:nvSpPr>
          <p:cNvPr id="19" name="Text 17"/>
          <p:cNvSpPr/>
          <p:nvPr/>
        </p:nvSpPr>
        <p:spPr>
          <a:xfrm>
            <a:off x="1508760" y="4370832"/>
            <a:ext cx="8046720" cy="320040"/>
          </a:xfrm>
          <a:prstGeom prst="rect">
            <a:avLst/>
          </a:prstGeom>
          <a:noFill/>
          <a:ln/>
        </p:spPr>
        <p:txBody>
          <a:bodyPr wrap="square" rtlCol="0" anchor="ctr"/>
          <a:lstStyle/>
          <a:p>
            <a:pPr indent="0" marL="0">
              <a:buNone/>
            </a:pPr>
            <a:r>
              <a:rPr lang="en-US" sz="1300" dirty="0">
                <a:solidFill>
                  <a:srgbClr val="5B7B99"/>
                </a:solidFill>
                <a:latin typeface="Calibri" pitchFamily="34" charset="0"/>
                <a:ea typeface="Calibri" pitchFamily="34" charset="-122"/>
                <a:cs typeface="Calibri" pitchFamily="34" charset="-120"/>
              </a:rPr>
              <a:t>What is left before full delivery</a:t>
            </a:r>
            <a:endParaRPr lang="en-US" sz="1300" dirty="0"/>
          </a:p>
        </p:txBody>
      </p:sp>
      <p:sp>
        <p:nvSpPr>
          <p:cNvPr id="20" name="Shape 18"/>
          <p:cNvSpPr/>
          <p:nvPr/>
        </p:nvSpPr>
        <p:spPr>
          <a:xfrm>
            <a:off x="640080" y="4800600"/>
            <a:ext cx="621792" cy="621792"/>
          </a:xfrm>
          <a:prstGeom prst="roundRect">
            <a:avLst>
              <a:gd name="adj" fmla="val 14706"/>
            </a:avLst>
          </a:prstGeom>
          <a:solidFill>
            <a:srgbClr val="EAF4FC"/>
          </a:solidFill>
          <a:ln w="15875">
            <a:solidFill>
              <a:srgbClr val="CFE6F7"/>
            </a:solidFill>
            <a:prstDash val="solid"/>
          </a:ln>
        </p:spPr>
      </p:sp>
      <p:sp>
        <p:nvSpPr>
          <p:cNvPr id="21" name="Text 19"/>
          <p:cNvSpPr/>
          <p:nvPr/>
        </p:nvSpPr>
        <p:spPr>
          <a:xfrm>
            <a:off x="640080" y="4800600"/>
            <a:ext cx="621792" cy="621792"/>
          </a:xfrm>
          <a:prstGeom prst="rect">
            <a:avLst/>
          </a:prstGeom>
          <a:noFill/>
          <a:ln/>
        </p:spPr>
        <p:txBody>
          <a:bodyPr wrap="square" rtlCol="0" anchor="ctr"/>
          <a:lstStyle/>
          <a:p>
            <a:pPr algn="ctr" indent="0" marL="0">
              <a:buNone/>
            </a:pPr>
            <a:r>
              <a:rPr lang="en-US" sz="1700" b="1" dirty="0">
                <a:solidFill>
                  <a:srgbClr val="0284C7"/>
                </a:solidFill>
                <a:latin typeface="Calibri" pitchFamily="34" charset="0"/>
                <a:ea typeface="Calibri" pitchFamily="34" charset="-122"/>
                <a:cs typeface="Calibri" pitchFamily="34" charset="-120"/>
              </a:rPr>
              <a:t>05</a:t>
            </a:r>
            <a:endParaRPr lang="en-US" sz="1700" dirty="0"/>
          </a:p>
        </p:txBody>
      </p:sp>
      <p:sp>
        <p:nvSpPr>
          <p:cNvPr id="22" name="Text 20"/>
          <p:cNvSpPr/>
          <p:nvPr/>
        </p:nvSpPr>
        <p:spPr>
          <a:xfrm>
            <a:off x="1508760" y="4782312"/>
            <a:ext cx="5486400" cy="384048"/>
          </a:xfrm>
          <a:prstGeom prst="rect">
            <a:avLst/>
          </a:prstGeom>
          <a:noFill/>
          <a:ln/>
        </p:spPr>
        <p:txBody>
          <a:bodyPr wrap="square" rtlCol="0" anchor="ctr"/>
          <a:lstStyle/>
          <a:p>
            <a:pPr indent="0" marL="0">
              <a:buNone/>
            </a:pPr>
            <a:r>
              <a:rPr lang="en-US" sz="1800" b="1" dirty="0">
                <a:solidFill>
                  <a:srgbClr val="0B3D91"/>
                </a:solidFill>
                <a:latin typeface="Calibri" pitchFamily="34" charset="0"/>
                <a:ea typeface="Calibri" pitchFamily="34" charset="-122"/>
                <a:cs typeface="Calibri" pitchFamily="34" charset="-120"/>
              </a:rPr>
              <a:t>Technical Foundation</a:t>
            </a:r>
            <a:endParaRPr lang="en-US" sz="1800" dirty="0"/>
          </a:p>
        </p:txBody>
      </p:sp>
      <p:sp>
        <p:nvSpPr>
          <p:cNvPr id="23" name="Text 21"/>
          <p:cNvSpPr/>
          <p:nvPr/>
        </p:nvSpPr>
        <p:spPr>
          <a:xfrm>
            <a:off x="1508760" y="5148072"/>
            <a:ext cx="8046720" cy="320040"/>
          </a:xfrm>
          <a:prstGeom prst="rect">
            <a:avLst/>
          </a:prstGeom>
          <a:noFill/>
          <a:ln/>
        </p:spPr>
        <p:txBody>
          <a:bodyPr wrap="square" rtlCol="0" anchor="ctr"/>
          <a:lstStyle/>
          <a:p>
            <a:pPr indent="0" marL="0">
              <a:buNone/>
            </a:pPr>
            <a:r>
              <a:rPr lang="en-US" sz="1300" dirty="0">
                <a:solidFill>
                  <a:srgbClr val="5B7B99"/>
                </a:solidFill>
                <a:latin typeface="Calibri" pitchFamily="34" charset="0"/>
                <a:ea typeface="Calibri" pitchFamily="34" charset="-122"/>
                <a:cs typeface="Calibri" pitchFamily="34" charset="-120"/>
              </a:rPr>
              <a:t>Architecture, stack, and data model</a:t>
            </a:r>
            <a:endParaRPr lang="en-US" sz="1300" dirty="0"/>
          </a:p>
        </p:txBody>
      </p:sp>
      <p:sp>
        <p:nvSpPr>
          <p:cNvPr id="24" name="Shape 22"/>
          <p:cNvSpPr/>
          <p:nvPr/>
        </p:nvSpPr>
        <p:spPr>
          <a:xfrm>
            <a:off x="640080" y="5577840"/>
            <a:ext cx="621792" cy="621792"/>
          </a:xfrm>
          <a:prstGeom prst="roundRect">
            <a:avLst>
              <a:gd name="adj" fmla="val 14706"/>
            </a:avLst>
          </a:prstGeom>
          <a:solidFill>
            <a:srgbClr val="EAF4FC"/>
          </a:solidFill>
          <a:ln w="15875">
            <a:solidFill>
              <a:srgbClr val="CFE6F7"/>
            </a:solidFill>
            <a:prstDash val="solid"/>
          </a:ln>
        </p:spPr>
      </p:sp>
      <p:sp>
        <p:nvSpPr>
          <p:cNvPr id="25" name="Text 23"/>
          <p:cNvSpPr/>
          <p:nvPr/>
        </p:nvSpPr>
        <p:spPr>
          <a:xfrm>
            <a:off x="640080" y="5577840"/>
            <a:ext cx="621792" cy="621792"/>
          </a:xfrm>
          <a:prstGeom prst="rect">
            <a:avLst/>
          </a:prstGeom>
          <a:noFill/>
          <a:ln/>
        </p:spPr>
        <p:txBody>
          <a:bodyPr wrap="square" rtlCol="0" anchor="ctr"/>
          <a:lstStyle/>
          <a:p>
            <a:pPr algn="ctr" indent="0" marL="0">
              <a:buNone/>
            </a:pPr>
            <a:r>
              <a:rPr lang="en-US" sz="1700" b="1" dirty="0">
                <a:solidFill>
                  <a:srgbClr val="0284C7"/>
                </a:solidFill>
                <a:latin typeface="Calibri" pitchFamily="34" charset="0"/>
                <a:ea typeface="Calibri" pitchFamily="34" charset="-122"/>
                <a:cs typeface="Calibri" pitchFamily="34" charset="-120"/>
              </a:rPr>
              <a:t>06</a:t>
            </a:r>
            <a:endParaRPr lang="en-US" sz="1700" dirty="0"/>
          </a:p>
        </p:txBody>
      </p:sp>
      <p:sp>
        <p:nvSpPr>
          <p:cNvPr id="26" name="Text 24"/>
          <p:cNvSpPr/>
          <p:nvPr/>
        </p:nvSpPr>
        <p:spPr>
          <a:xfrm>
            <a:off x="1508760" y="5559552"/>
            <a:ext cx="5486400" cy="384048"/>
          </a:xfrm>
          <a:prstGeom prst="rect">
            <a:avLst/>
          </a:prstGeom>
          <a:noFill/>
          <a:ln/>
        </p:spPr>
        <p:txBody>
          <a:bodyPr wrap="square" rtlCol="0" anchor="ctr"/>
          <a:lstStyle/>
          <a:p>
            <a:pPr indent="0" marL="0">
              <a:buNone/>
            </a:pPr>
            <a:r>
              <a:rPr lang="en-US" sz="1800" b="1" dirty="0">
                <a:solidFill>
                  <a:srgbClr val="0B3D91"/>
                </a:solidFill>
                <a:latin typeface="Calibri" pitchFamily="34" charset="0"/>
                <a:ea typeface="Calibri" pitchFamily="34" charset="-122"/>
                <a:cs typeface="Calibri" pitchFamily="34" charset="-120"/>
              </a:rPr>
              <a:t>Timeline &amp; Next Steps</a:t>
            </a:r>
            <a:endParaRPr lang="en-US" sz="1800" dirty="0"/>
          </a:p>
        </p:txBody>
      </p:sp>
      <p:sp>
        <p:nvSpPr>
          <p:cNvPr id="27" name="Text 25"/>
          <p:cNvSpPr/>
          <p:nvPr/>
        </p:nvSpPr>
        <p:spPr>
          <a:xfrm>
            <a:off x="1508760" y="5925312"/>
            <a:ext cx="8046720" cy="320040"/>
          </a:xfrm>
          <a:prstGeom prst="rect">
            <a:avLst/>
          </a:prstGeom>
          <a:noFill/>
          <a:ln/>
        </p:spPr>
        <p:txBody>
          <a:bodyPr wrap="square" rtlCol="0" anchor="ctr"/>
          <a:lstStyle/>
          <a:p>
            <a:pPr indent="0" marL="0">
              <a:buNone/>
            </a:pPr>
            <a:r>
              <a:rPr lang="en-US" sz="1300" dirty="0">
                <a:solidFill>
                  <a:srgbClr val="5B7B99"/>
                </a:solidFill>
                <a:latin typeface="Calibri" pitchFamily="34" charset="0"/>
                <a:ea typeface="Calibri" pitchFamily="34" charset="-122"/>
                <a:cs typeface="Calibri" pitchFamily="34" charset="-120"/>
              </a:rPr>
              <a:t>Path to completion and upcoming milestones</a:t>
            </a:r>
            <a:endParaRPr lang="en-US" sz="1300" dirty="0"/>
          </a:p>
        </p:txBody>
      </p:sp>
      <p:sp>
        <p:nvSpPr>
          <p:cNvPr id="28" name="Text 26"/>
          <p:cNvSpPr/>
          <p:nvPr/>
        </p:nvSpPr>
        <p:spPr>
          <a:xfrm>
            <a:off x="457200" y="6492240"/>
            <a:ext cx="7315200" cy="274320"/>
          </a:xfrm>
          <a:prstGeom prst="rect">
            <a:avLst/>
          </a:prstGeom>
          <a:noFill/>
          <a:ln/>
        </p:spPr>
        <p:txBody>
          <a:bodyPr wrap="square" rtlCol="0" anchor="ctr"/>
          <a:lstStyle/>
          <a:p>
            <a:pPr indent="0" marL="0">
              <a:buNone/>
            </a:pPr>
            <a:r>
              <a:rPr lang="en-US" sz="1100" dirty="0">
                <a:solidFill>
                  <a:srgbClr val="5B7B99"/>
                </a:solidFill>
                <a:latin typeface="Calibri" pitchFamily="34" charset="0"/>
                <a:ea typeface="Calibri" pitchFamily="34" charset="-122"/>
                <a:cs typeface="Calibri" pitchFamily="34" charset="-120"/>
              </a:rPr>
              <a:t>ParSU e-Feedback System  |  Development Progress Report</a:t>
            </a:r>
            <a:endParaRPr lang="en-US" sz="1100" dirty="0"/>
          </a:p>
        </p:txBody>
      </p:sp>
      <p:sp>
        <p:nvSpPr>
          <p:cNvPr id="29" name="Text 27"/>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5B7B99"/>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3000" b="1" dirty="0">
                <a:solidFill>
                  <a:srgbClr val="0B3D91"/>
                </a:solidFill>
                <a:latin typeface="Calibri" pitchFamily="34" charset="0"/>
                <a:ea typeface="Calibri" pitchFamily="34" charset="-122"/>
                <a:cs typeface="Calibri" pitchFamily="34" charset="-120"/>
              </a:rPr>
              <a:t>Project Overview</a:t>
            </a:r>
            <a:endParaRPr lang="en-US" sz="3000" dirty="0"/>
          </a:p>
        </p:txBody>
      </p:sp>
      <p:sp>
        <p:nvSpPr>
          <p:cNvPr id="3" name="Shape 1"/>
          <p:cNvSpPr/>
          <p:nvPr/>
        </p:nvSpPr>
        <p:spPr>
          <a:xfrm>
            <a:off x="658368" y="1024128"/>
            <a:ext cx="914400" cy="64008"/>
          </a:xfrm>
          <a:prstGeom prst="rect">
            <a:avLst/>
          </a:prstGeom>
          <a:solidFill>
            <a:srgbClr val="0284C7"/>
          </a:solidFill>
          <a:ln/>
        </p:spPr>
      </p:sp>
      <p:sp>
        <p:nvSpPr>
          <p:cNvPr id="4" name="Text 2"/>
          <p:cNvSpPr/>
          <p:nvPr/>
        </p:nvSpPr>
        <p:spPr>
          <a:xfrm>
            <a:off x="640080" y="1280160"/>
            <a:ext cx="6675120" cy="1234440"/>
          </a:xfrm>
          <a:prstGeom prst="rect">
            <a:avLst/>
          </a:prstGeom>
          <a:noFill/>
          <a:ln/>
        </p:spPr>
        <p:txBody>
          <a:bodyPr wrap="square" rtlCol="0" anchor="ctr"/>
          <a:lstStyle/>
          <a:p>
            <a:pPr indent="0" marL="0">
              <a:lnSpc>
                <a:spcPct val="130000"/>
              </a:lnSpc>
              <a:buNone/>
            </a:pPr>
            <a:r>
              <a:rPr lang="en-US" sz="1500" dirty="0">
                <a:solidFill>
                  <a:srgbClr val="1E3A5F"/>
                </a:solidFill>
                <a:latin typeface="Calibri" pitchFamily="34" charset="0"/>
                <a:ea typeface="Calibri" pitchFamily="34" charset="-122"/>
                <a:cs typeface="Calibri" pitchFamily="34" charset="-120"/>
              </a:rPr>
              <a:t>ParSU e-Feedback is a web-based complaint and feedback management system that lets students file, track, and rate the resolution of concerns, while staff, deans, quality assurance officers, and administrators manage routing, response, and reporting across offices.</a:t>
            </a:r>
            <a:endParaRPr lang="en-US" sz="1500" dirty="0"/>
          </a:p>
        </p:txBody>
      </p:sp>
      <p:sp>
        <p:nvSpPr>
          <p:cNvPr id="5" name="Shape 3"/>
          <p:cNvSpPr/>
          <p:nvPr/>
        </p:nvSpPr>
        <p:spPr>
          <a:xfrm>
            <a:off x="640080" y="2606040"/>
            <a:ext cx="6675120" cy="658368"/>
          </a:xfrm>
          <a:prstGeom prst="roundRect">
            <a:avLst>
              <a:gd name="adj" fmla="val 9722"/>
            </a:avLst>
          </a:prstGeom>
          <a:solidFill>
            <a:srgbClr val="EAF4FC"/>
          </a:solidFill>
          <a:ln w="15875">
            <a:solidFill>
              <a:srgbClr val="CFE6F7"/>
            </a:solidFill>
            <a:prstDash val="solid"/>
          </a:ln>
        </p:spPr>
      </p:sp>
      <p:sp>
        <p:nvSpPr>
          <p:cNvPr id="6" name="Text 4"/>
          <p:cNvSpPr/>
          <p:nvPr/>
        </p:nvSpPr>
        <p:spPr>
          <a:xfrm>
            <a:off x="822960" y="2606040"/>
            <a:ext cx="1828800" cy="658368"/>
          </a:xfrm>
          <a:prstGeom prst="rect">
            <a:avLst/>
          </a:prstGeom>
          <a:noFill/>
          <a:ln/>
        </p:spPr>
        <p:txBody>
          <a:bodyPr wrap="square" rtlCol="0" anchor="ctr"/>
          <a:lstStyle/>
          <a:p>
            <a:pPr indent="0" marL="0">
              <a:buNone/>
            </a:pPr>
            <a:r>
              <a:rPr lang="en-US" sz="1400" b="1" dirty="0">
                <a:solidFill>
                  <a:srgbClr val="0369A1"/>
                </a:solidFill>
                <a:latin typeface="Calibri" pitchFamily="34" charset="0"/>
                <a:ea typeface="Calibri" pitchFamily="34" charset="-122"/>
                <a:cs typeface="Calibri" pitchFamily="34" charset="-120"/>
              </a:rPr>
              <a:t>Student</a:t>
            </a:r>
            <a:endParaRPr lang="en-US" sz="1400" dirty="0"/>
          </a:p>
        </p:txBody>
      </p:sp>
      <p:sp>
        <p:nvSpPr>
          <p:cNvPr id="7" name="Text 5"/>
          <p:cNvSpPr/>
          <p:nvPr/>
        </p:nvSpPr>
        <p:spPr>
          <a:xfrm>
            <a:off x="2651760" y="2606040"/>
            <a:ext cx="4572000" cy="658368"/>
          </a:xfrm>
          <a:prstGeom prst="rect">
            <a:avLst/>
          </a:prstGeom>
          <a:noFill/>
          <a:ln/>
        </p:spPr>
        <p:txBody>
          <a:bodyPr wrap="square" rtlCol="0" anchor="ctr"/>
          <a:lstStyle/>
          <a:p>
            <a:pPr indent="0" marL="0">
              <a:buNone/>
            </a:pPr>
            <a:r>
              <a:rPr lang="en-US" sz="1250" dirty="0">
                <a:solidFill>
                  <a:srgbClr val="1E3A5F"/>
                </a:solidFill>
                <a:latin typeface="Calibri" pitchFamily="34" charset="0"/>
                <a:ea typeface="Calibri" pitchFamily="34" charset="-122"/>
                <a:cs typeface="Calibri" pitchFamily="34" charset="-120"/>
              </a:rPr>
              <a:t>Submit complaints, attach evidence, track status, rate resolutions</a:t>
            </a:r>
            <a:endParaRPr lang="en-US" sz="1250" dirty="0"/>
          </a:p>
        </p:txBody>
      </p:sp>
      <p:sp>
        <p:nvSpPr>
          <p:cNvPr id="8" name="Shape 6"/>
          <p:cNvSpPr/>
          <p:nvPr/>
        </p:nvSpPr>
        <p:spPr>
          <a:xfrm>
            <a:off x="640080" y="3383280"/>
            <a:ext cx="6675120" cy="658368"/>
          </a:xfrm>
          <a:prstGeom prst="roundRect">
            <a:avLst>
              <a:gd name="adj" fmla="val 9722"/>
            </a:avLst>
          </a:prstGeom>
          <a:solidFill>
            <a:srgbClr val="EAF4FC"/>
          </a:solidFill>
          <a:ln w="15875">
            <a:solidFill>
              <a:srgbClr val="CFE6F7"/>
            </a:solidFill>
            <a:prstDash val="solid"/>
          </a:ln>
        </p:spPr>
      </p:sp>
      <p:sp>
        <p:nvSpPr>
          <p:cNvPr id="9" name="Text 7"/>
          <p:cNvSpPr/>
          <p:nvPr/>
        </p:nvSpPr>
        <p:spPr>
          <a:xfrm>
            <a:off x="822960" y="3383280"/>
            <a:ext cx="1828800" cy="658368"/>
          </a:xfrm>
          <a:prstGeom prst="rect">
            <a:avLst/>
          </a:prstGeom>
          <a:noFill/>
          <a:ln/>
        </p:spPr>
        <p:txBody>
          <a:bodyPr wrap="square" rtlCol="0" anchor="ctr"/>
          <a:lstStyle/>
          <a:p>
            <a:pPr indent="0" marL="0">
              <a:buNone/>
            </a:pPr>
            <a:r>
              <a:rPr lang="en-US" sz="1400" b="1" dirty="0">
                <a:solidFill>
                  <a:srgbClr val="0369A1"/>
                </a:solidFill>
                <a:latin typeface="Calibri" pitchFamily="34" charset="0"/>
                <a:ea typeface="Calibri" pitchFamily="34" charset="-122"/>
                <a:cs typeface="Calibri" pitchFamily="34" charset="-120"/>
              </a:rPr>
              <a:t>Staff</a:t>
            </a:r>
            <a:endParaRPr lang="en-US" sz="1400" dirty="0"/>
          </a:p>
        </p:txBody>
      </p:sp>
      <p:sp>
        <p:nvSpPr>
          <p:cNvPr id="10" name="Text 8"/>
          <p:cNvSpPr/>
          <p:nvPr/>
        </p:nvSpPr>
        <p:spPr>
          <a:xfrm>
            <a:off x="2651760" y="3383280"/>
            <a:ext cx="4572000" cy="658368"/>
          </a:xfrm>
          <a:prstGeom prst="rect">
            <a:avLst/>
          </a:prstGeom>
          <a:noFill/>
          <a:ln/>
        </p:spPr>
        <p:txBody>
          <a:bodyPr wrap="square" rtlCol="0" anchor="ctr"/>
          <a:lstStyle/>
          <a:p>
            <a:pPr indent="0" marL="0">
              <a:buNone/>
            </a:pPr>
            <a:r>
              <a:rPr lang="en-US" sz="1250" dirty="0">
                <a:solidFill>
                  <a:srgbClr val="1E3A5F"/>
                </a:solidFill>
                <a:latin typeface="Calibri" pitchFamily="34" charset="0"/>
                <a:ea typeface="Calibri" pitchFamily="34" charset="-122"/>
                <a:cs typeface="Calibri" pitchFamily="34" charset="-120"/>
              </a:rPr>
              <a:t>Receive assigned tickets, update status, communicate with students</a:t>
            </a:r>
            <a:endParaRPr lang="en-US" sz="1250" dirty="0"/>
          </a:p>
        </p:txBody>
      </p:sp>
      <p:sp>
        <p:nvSpPr>
          <p:cNvPr id="11" name="Shape 9"/>
          <p:cNvSpPr/>
          <p:nvPr/>
        </p:nvSpPr>
        <p:spPr>
          <a:xfrm>
            <a:off x="640080" y="4160520"/>
            <a:ext cx="6675120" cy="658368"/>
          </a:xfrm>
          <a:prstGeom prst="roundRect">
            <a:avLst>
              <a:gd name="adj" fmla="val 9722"/>
            </a:avLst>
          </a:prstGeom>
          <a:solidFill>
            <a:srgbClr val="EAF4FC"/>
          </a:solidFill>
          <a:ln w="15875">
            <a:solidFill>
              <a:srgbClr val="CFE6F7"/>
            </a:solidFill>
            <a:prstDash val="solid"/>
          </a:ln>
        </p:spPr>
      </p:sp>
      <p:sp>
        <p:nvSpPr>
          <p:cNvPr id="12" name="Text 10"/>
          <p:cNvSpPr/>
          <p:nvPr/>
        </p:nvSpPr>
        <p:spPr>
          <a:xfrm>
            <a:off x="822960" y="4160520"/>
            <a:ext cx="1828800" cy="658368"/>
          </a:xfrm>
          <a:prstGeom prst="rect">
            <a:avLst/>
          </a:prstGeom>
          <a:noFill/>
          <a:ln/>
        </p:spPr>
        <p:txBody>
          <a:bodyPr wrap="square" rtlCol="0" anchor="ctr"/>
          <a:lstStyle/>
          <a:p>
            <a:pPr indent="0" marL="0">
              <a:buNone/>
            </a:pPr>
            <a:r>
              <a:rPr lang="en-US" sz="1400" b="1" dirty="0">
                <a:solidFill>
                  <a:srgbClr val="0369A1"/>
                </a:solidFill>
                <a:latin typeface="Calibri" pitchFamily="34" charset="0"/>
                <a:ea typeface="Calibri" pitchFamily="34" charset="-122"/>
                <a:cs typeface="Calibri" pitchFamily="34" charset="-120"/>
              </a:rPr>
              <a:t>Dean</a:t>
            </a:r>
            <a:endParaRPr lang="en-US" sz="1400" dirty="0"/>
          </a:p>
        </p:txBody>
      </p:sp>
      <p:sp>
        <p:nvSpPr>
          <p:cNvPr id="13" name="Text 11"/>
          <p:cNvSpPr/>
          <p:nvPr/>
        </p:nvSpPr>
        <p:spPr>
          <a:xfrm>
            <a:off x="2651760" y="4160520"/>
            <a:ext cx="4572000" cy="658368"/>
          </a:xfrm>
          <a:prstGeom prst="rect">
            <a:avLst/>
          </a:prstGeom>
          <a:noFill/>
          <a:ln/>
        </p:spPr>
        <p:txBody>
          <a:bodyPr wrap="square" rtlCol="0" anchor="ctr"/>
          <a:lstStyle/>
          <a:p>
            <a:pPr indent="0" marL="0">
              <a:buNone/>
            </a:pPr>
            <a:r>
              <a:rPr lang="en-US" sz="1250" dirty="0">
                <a:solidFill>
                  <a:srgbClr val="1E3A5F"/>
                </a:solidFill>
                <a:latin typeface="Calibri" pitchFamily="34" charset="0"/>
                <a:ea typeface="Calibri" pitchFamily="34" charset="-122"/>
                <a:cs typeface="Calibri" pitchFamily="34" charset="-120"/>
              </a:rPr>
              <a:t>Oversee office performance, reassign tickets, view analytics</a:t>
            </a:r>
            <a:endParaRPr lang="en-US" sz="1250" dirty="0"/>
          </a:p>
        </p:txBody>
      </p:sp>
      <p:sp>
        <p:nvSpPr>
          <p:cNvPr id="14" name="Shape 12"/>
          <p:cNvSpPr/>
          <p:nvPr/>
        </p:nvSpPr>
        <p:spPr>
          <a:xfrm>
            <a:off x="640080" y="4937760"/>
            <a:ext cx="6675120" cy="658368"/>
          </a:xfrm>
          <a:prstGeom prst="roundRect">
            <a:avLst>
              <a:gd name="adj" fmla="val 9722"/>
            </a:avLst>
          </a:prstGeom>
          <a:solidFill>
            <a:srgbClr val="EAF4FC"/>
          </a:solidFill>
          <a:ln w="15875">
            <a:solidFill>
              <a:srgbClr val="CFE6F7"/>
            </a:solidFill>
            <a:prstDash val="solid"/>
          </a:ln>
        </p:spPr>
      </p:sp>
      <p:sp>
        <p:nvSpPr>
          <p:cNvPr id="15" name="Text 13"/>
          <p:cNvSpPr/>
          <p:nvPr/>
        </p:nvSpPr>
        <p:spPr>
          <a:xfrm>
            <a:off x="822960" y="4937760"/>
            <a:ext cx="1828800" cy="658368"/>
          </a:xfrm>
          <a:prstGeom prst="rect">
            <a:avLst/>
          </a:prstGeom>
          <a:noFill/>
          <a:ln/>
        </p:spPr>
        <p:txBody>
          <a:bodyPr wrap="square" rtlCol="0" anchor="ctr"/>
          <a:lstStyle/>
          <a:p>
            <a:pPr indent="0" marL="0">
              <a:buNone/>
            </a:pPr>
            <a:r>
              <a:rPr lang="en-US" sz="1400" b="1" dirty="0">
                <a:solidFill>
                  <a:srgbClr val="0369A1"/>
                </a:solidFill>
                <a:latin typeface="Calibri" pitchFamily="34" charset="0"/>
                <a:ea typeface="Calibri" pitchFamily="34" charset="-122"/>
                <a:cs typeface="Calibri" pitchFamily="34" charset="-120"/>
              </a:rPr>
              <a:t>Quality Assurance</a:t>
            </a:r>
            <a:endParaRPr lang="en-US" sz="1400" dirty="0"/>
          </a:p>
        </p:txBody>
      </p:sp>
      <p:sp>
        <p:nvSpPr>
          <p:cNvPr id="16" name="Text 14"/>
          <p:cNvSpPr/>
          <p:nvPr/>
        </p:nvSpPr>
        <p:spPr>
          <a:xfrm>
            <a:off x="2651760" y="4937760"/>
            <a:ext cx="4572000" cy="658368"/>
          </a:xfrm>
          <a:prstGeom prst="rect">
            <a:avLst/>
          </a:prstGeom>
          <a:noFill/>
          <a:ln/>
        </p:spPr>
        <p:txBody>
          <a:bodyPr wrap="square" rtlCol="0" anchor="ctr"/>
          <a:lstStyle/>
          <a:p>
            <a:pPr indent="0" marL="0">
              <a:buNone/>
            </a:pPr>
            <a:r>
              <a:rPr lang="en-US" sz="1250" dirty="0">
                <a:solidFill>
                  <a:srgbClr val="1E3A5F"/>
                </a:solidFill>
                <a:latin typeface="Calibri" pitchFamily="34" charset="0"/>
                <a:ea typeface="Calibri" pitchFamily="34" charset="-122"/>
                <a:cs typeface="Calibri" pitchFamily="34" charset="-120"/>
              </a:rPr>
              <a:t>Monitor SLA compliance, review feedback, generate reports</a:t>
            </a:r>
            <a:endParaRPr lang="en-US" sz="1250" dirty="0"/>
          </a:p>
        </p:txBody>
      </p:sp>
      <p:sp>
        <p:nvSpPr>
          <p:cNvPr id="17" name="Shape 15"/>
          <p:cNvSpPr/>
          <p:nvPr/>
        </p:nvSpPr>
        <p:spPr>
          <a:xfrm>
            <a:off x="640080" y="5715000"/>
            <a:ext cx="6675120" cy="658368"/>
          </a:xfrm>
          <a:prstGeom prst="roundRect">
            <a:avLst>
              <a:gd name="adj" fmla="val 9722"/>
            </a:avLst>
          </a:prstGeom>
          <a:solidFill>
            <a:srgbClr val="EAF4FC"/>
          </a:solidFill>
          <a:ln w="15875">
            <a:solidFill>
              <a:srgbClr val="CFE6F7"/>
            </a:solidFill>
            <a:prstDash val="solid"/>
          </a:ln>
        </p:spPr>
      </p:sp>
      <p:sp>
        <p:nvSpPr>
          <p:cNvPr id="18" name="Text 16"/>
          <p:cNvSpPr/>
          <p:nvPr/>
        </p:nvSpPr>
        <p:spPr>
          <a:xfrm>
            <a:off x="822960" y="5715000"/>
            <a:ext cx="1828800" cy="658368"/>
          </a:xfrm>
          <a:prstGeom prst="rect">
            <a:avLst/>
          </a:prstGeom>
          <a:noFill/>
          <a:ln/>
        </p:spPr>
        <p:txBody>
          <a:bodyPr wrap="square" rtlCol="0" anchor="ctr"/>
          <a:lstStyle/>
          <a:p>
            <a:pPr indent="0" marL="0">
              <a:buNone/>
            </a:pPr>
            <a:r>
              <a:rPr lang="en-US" sz="1400" b="1" dirty="0">
                <a:solidFill>
                  <a:srgbClr val="0369A1"/>
                </a:solidFill>
                <a:latin typeface="Calibri" pitchFamily="34" charset="0"/>
                <a:ea typeface="Calibri" pitchFamily="34" charset="-122"/>
                <a:cs typeface="Calibri" pitchFamily="34" charset="-120"/>
              </a:rPr>
              <a:t>Admin</a:t>
            </a:r>
            <a:endParaRPr lang="en-US" sz="1400" dirty="0"/>
          </a:p>
        </p:txBody>
      </p:sp>
      <p:sp>
        <p:nvSpPr>
          <p:cNvPr id="19" name="Text 17"/>
          <p:cNvSpPr/>
          <p:nvPr/>
        </p:nvSpPr>
        <p:spPr>
          <a:xfrm>
            <a:off x="2651760" y="5715000"/>
            <a:ext cx="4572000" cy="658368"/>
          </a:xfrm>
          <a:prstGeom prst="rect">
            <a:avLst/>
          </a:prstGeom>
          <a:noFill/>
          <a:ln/>
        </p:spPr>
        <p:txBody>
          <a:bodyPr wrap="square" rtlCol="0" anchor="ctr"/>
          <a:lstStyle/>
          <a:p>
            <a:pPr indent="0" marL="0">
              <a:buNone/>
            </a:pPr>
            <a:r>
              <a:rPr lang="en-US" sz="1250" dirty="0">
                <a:solidFill>
                  <a:srgbClr val="1E3A5F"/>
                </a:solidFill>
                <a:latin typeface="Calibri" pitchFamily="34" charset="0"/>
                <a:ea typeface="Calibri" pitchFamily="34" charset="-122"/>
                <a:cs typeface="Calibri" pitchFamily="34" charset="-120"/>
              </a:rPr>
              <a:t>Manage users, offices, categories, routing &amp; SLA rules</a:t>
            </a:r>
            <a:endParaRPr lang="en-US" sz="1250" dirty="0"/>
          </a:p>
        </p:txBody>
      </p:sp>
      <p:sp>
        <p:nvSpPr>
          <p:cNvPr id="20" name="Shape 18"/>
          <p:cNvSpPr/>
          <p:nvPr/>
        </p:nvSpPr>
        <p:spPr>
          <a:xfrm>
            <a:off x="7635240" y="1280160"/>
            <a:ext cx="3931920" cy="4892040"/>
          </a:xfrm>
          <a:prstGeom prst="roundRect">
            <a:avLst>
              <a:gd name="adj" fmla="val 2326"/>
            </a:avLst>
          </a:prstGeom>
          <a:solidFill>
            <a:srgbClr val="0B3D91"/>
          </a:solidFill>
          <a:ln/>
        </p:spPr>
      </p:sp>
      <p:sp>
        <p:nvSpPr>
          <p:cNvPr id="21" name="Text 19"/>
          <p:cNvSpPr/>
          <p:nvPr/>
        </p:nvSpPr>
        <p:spPr>
          <a:xfrm>
            <a:off x="7955280" y="1554480"/>
            <a:ext cx="3383280" cy="320040"/>
          </a:xfrm>
          <a:prstGeom prst="rect">
            <a:avLst/>
          </a:prstGeom>
          <a:noFill/>
          <a:ln/>
        </p:spPr>
        <p:txBody>
          <a:bodyPr wrap="square" rtlCol="0" anchor="ctr"/>
          <a:lstStyle/>
          <a:p>
            <a:pPr indent="0" marL="0">
              <a:buNone/>
            </a:pPr>
            <a:r>
              <a:rPr lang="en-US" sz="1300" b="1" spc="120" kern="0" dirty="0">
                <a:solidFill>
                  <a:srgbClr val="38BDF8"/>
                </a:solidFill>
                <a:latin typeface="Calibri" pitchFamily="34" charset="0"/>
                <a:ea typeface="Calibri" pitchFamily="34" charset="-122"/>
                <a:cs typeface="Calibri" pitchFamily="34" charset="-120"/>
              </a:rPr>
              <a:t>PROJECT SNAPSHOT</a:t>
            </a:r>
            <a:endParaRPr lang="en-US" sz="1300" dirty="0"/>
          </a:p>
        </p:txBody>
      </p:sp>
      <p:sp>
        <p:nvSpPr>
          <p:cNvPr id="22" name="Text 20"/>
          <p:cNvSpPr/>
          <p:nvPr/>
        </p:nvSpPr>
        <p:spPr>
          <a:xfrm>
            <a:off x="7955280" y="2103120"/>
            <a:ext cx="3383280" cy="274320"/>
          </a:xfrm>
          <a:prstGeom prst="rect">
            <a:avLst/>
          </a:prstGeom>
          <a:noFill/>
          <a:ln/>
        </p:spPr>
        <p:txBody>
          <a:bodyPr wrap="square" rtlCol="0" anchor="ctr"/>
          <a:lstStyle/>
          <a:p>
            <a:pPr indent="0" marL="0">
              <a:buNone/>
            </a:pPr>
            <a:r>
              <a:rPr lang="en-US" sz="1100" spc="50" kern="0" dirty="0">
                <a:solidFill>
                  <a:srgbClr val="AFD3EE"/>
                </a:solidFill>
                <a:latin typeface="Calibri" pitchFamily="34" charset="0"/>
                <a:ea typeface="Calibri" pitchFamily="34" charset="-122"/>
                <a:cs typeface="Calibri" pitchFamily="34" charset="-120"/>
              </a:rPr>
              <a:t>PLATFORM</a:t>
            </a:r>
            <a:endParaRPr lang="en-US" sz="1100" dirty="0"/>
          </a:p>
        </p:txBody>
      </p:sp>
      <p:sp>
        <p:nvSpPr>
          <p:cNvPr id="23" name="Text 21"/>
          <p:cNvSpPr/>
          <p:nvPr/>
        </p:nvSpPr>
        <p:spPr>
          <a:xfrm>
            <a:off x="7955280" y="2377440"/>
            <a:ext cx="33832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Next.js web application</a:t>
            </a:r>
            <a:endParaRPr lang="en-US" sz="1500" dirty="0"/>
          </a:p>
        </p:txBody>
      </p:sp>
      <p:sp>
        <p:nvSpPr>
          <p:cNvPr id="24" name="Text 22"/>
          <p:cNvSpPr/>
          <p:nvPr/>
        </p:nvSpPr>
        <p:spPr>
          <a:xfrm>
            <a:off x="7955280" y="2971800"/>
            <a:ext cx="3383280" cy="274320"/>
          </a:xfrm>
          <a:prstGeom prst="rect">
            <a:avLst/>
          </a:prstGeom>
          <a:noFill/>
          <a:ln/>
        </p:spPr>
        <p:txBody>
          <a:bodyPr wrap="square" rtlCol="0" anchor="ctr"/>
          <a:lstStyle/>
          <a:p>
            <a:pPr indent="0" marL="0">
              <a:buNone/>
            </a:pPr>
            <a:r>
              <a:rPr lang="en-US" sz="1100" spc="50" kern="0" dirty="0">
                <a:solidFill>
                  <a:srgbClr val="AFD3EE"/>
                </a:solidFill>
                <a:latin typeface="Calibri" pitchFamily="34" charset="0"/>
                <a:ea typeface="Calibri" pitchFamily="34" charset="-122"/>
                <a:cs typeface="Calibri" pitchFamily="34" charset="-120"/>
              </a:rPr>
              <a:t>USER ROLES</a:t>
            </a:r>
            <a:endParaRPr lang="en-US" sz="1100" dirty="0"/>
          </a:p>
        </p:txBody>
      </p:sp>
      <p:sp>
        <p:nvSpPr>
          <p:cNvPr id="25" name="Text 23"/>
          <p:cNvSpPr/>
          <p:nvPr/>
        </p:nvSpPr>
        <p:spPr>
          <a:xfrm>
            <a:off x="7955280" y="3246120"/>
            <a:ext cx="33832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(Student, Staff, Dean, QA, Admin)</a:t>
            </a:r>
            <a:endParaRPr lang="en-US" sz="1500" dirty="0"/>
          </a:p>
        </p:txBody>
      </p:sp>
      <p:sp>
        <p:nvSpPr>
          <p:cNvPr id="26" name="Text 24"/>
          <p:cNvSpPr/>
          <p:nvPr/>
        </p:nvSpPr>
        <p:spPr>
          <a:xfrm>
            <a:off x="7955280" y="3840480"/>
            <a:ext cx="3383280" cy="274320"/>
          </a:xfrm>
          <a:prstGeom prst="rect">
            <a:avLst/>
          </a:prstGeom>
          <a:noFill/>
          <a:ln/>
        </p:spPr>
        <p:txBody>
          <a:bodyPr wrap="square" rtlCol="0" anchor="ctr"/>
          <a:lstStyle/>
          <a:p>
            <a:pPr indent="0" marL="0">
              <a:buNone/>
            </a:pPr>
            <a:r>
              <a:rPr lang="en-US" sz="1100" spc="50" kern="0" dirty="0">
                <a:solidFill>
                  <a:srgbClr val="AFD3EE"/>
                </a:solidFill>
                <a:latin typeface="Calibri" pitchFamily="34" charset="0"/>
                <a:ea typeface="Calibri" pitchFamily="34" charset="-122"/>
                <a:cs typeface="Calibri" pitchFamily="34" charset="-120"/>
              </a:rPr>
              <a:t>CORE WORKFLOW</a:t>
            </a:r>
            <a:endParaRPr lang="en-US" sz="1100" dirty="0"/>
          </a:p>
        </p:txBody>
      </p:sp>
      <p:sp>
        <p:nvSpPr>
          <p:cNvPr id="27" name="Text 25"/>
          <p:cNvSpPr/>
          <p:nvPr/>
        </p:nvSpPr>
        <p:spPr>
          <a:xfrm>
            <a:off x="7955280" y="4114800"/>
            <a:ext cx="33832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Submit → Route → Resolve → Rate</a:t>
            </a:r>
            <a:endParaRPr lang="en-US" sz="1500" dirty="0"/>
          </a:p>
        </p:txBody>
      </p:sp>
      <p:sp>
        <p:nvSpPr>
          <p:cNvPr id="28" name="Text 26"/>
          <p:cNvSpPr/>
          <p:nvPr/>
        </p:nvSpPr>
        <p:spPr>
          <a:xfrm>
            <a:off x="7955280" y="4709160"/>
            <a:ext cx="3383280" cy="274320"/>
          </a:xfrm>
          <a:prstGeom prst="rect">
            <a:avLst/>
          </a:prstGeom>
          <a:noFill/>
          <a:ln/>
        </p:spPr>
        <p:txBody>
          <a:bodyPr wrap="square" rtlCol="0" anchor="ctr"/>
          <a:lstStyle/>
          <a:p>
            <a:pPr indent="0" marL="0">
              <a:buNone/>
            </a:pPr>
            <a:r>
              <a:rPr lang="en-US" sz="1100" spc="50" kern="0" dirty="0">
                <a:solidFill>
                  <a:srgbClr val="AFD3EE"/>
                </a:solidFill>
                <a:latin typeface="Calibri" pitchFamily="34" charset="0"/>
                <a:ea typeface="Calibri" pitchFamily="34" charset="-122"/>
                <a:cs typeface="Calibri" pitchFamily="34" charset="-120"/>
              </a:rPr>
              <a:t>REPORTING CYCLE</a:t>
            </a:r>
            <a:endParaRPr lang="en-US" sz="1100" dirty="0"/>
          </a:p>
        </p:txBody>
      </p:sp>
      <p:sp>
        <p:nvSpPr>
          <p:cNvPr id="29" name="Text 27"/>
          <p:cNvSpPr/>
          <p:nvPr/>
        </p:nvSpPr>
        <p:spPr>
          <a:xfrm>
            <a:off x="7955280" y="4983480"/>
            <a:ext cx="33832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Phase 6 — mid-development</a:t>
            </a:r>
            <a:endParaRPr lang="en-US" sz="1500" dirty="0"/>
          </a:p>
        </p:txBody>
      </p:sp>
      <p:sp>
        <p:nvSpPr>
          <p:cNvPr id="30" name="Text 28"/>
          <p:cNvSpPr/>
          <p:nvPr/>
        </p:nvSpPr>
        <p:spPr>
          <a:xfrm>
            <a:off x="7955280" y="5577840"/>
            <a:ext cx="3383280" cy="274320"/>
          </a:xfrm>
          <a:prstGeom prst="rect">
            <a:avLst/>
          </a:prstGeom>
          <a:noFill/>
          <a:ln/>
        </p:spPr>
        <p:txBody>
          <a:bodyPr wrap="square" rtlCol="0" anchor="ctr"/>
          <a:lstStyle/>
          <a:p>
            <a:pPr indent="0" marL="0">
              <a:buNone/>
            </a:pPr>
            <a:r>
              <a:rPr lang="en-US" sz="1100" spc="50" kern="0" dirty="0">
                <a:solidFill>
                  <a:srgbClr val="AFD3EE"/>
                </a:solidFill>
                <a:latin typeface="Calibri" pitchFamily="34" charset="0"/>
                <a:ea typeface="Calibri" pitchFamily="34" charset="-122"/>
                <a:cs typeface="Calibri" pitchFamily="34" charset="-120"/>
              </a:rPr>
              <a:t>CURRENT STATUS</a:t>
            </a:r>
            <a:endParaRPr lang="en-US" sz="1100" dirty="0"/>
          </a:p>
        </p:txBody>
      </p:sp>
      <p:sp>
        <p:nvSpPr>
          <p:cNvPr id="31" name="Text 29"/>
          <p:cNvSpPr/>
          <p:nvPr/>
        </p:nvSpPr>
        <p:spPr>
          <a:xfrm>
            <a:off x="7955280" y="5852160"/>
            <a:ext cx="338328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50% of planned scope complete</a:t>
            </a:r>
            <a:endParaRPr lang="en-US" sz="1500" dirty="0"/>
          </a:p>
        </p:txBody>
      </p:sp>
      <p:sp>
        <p:nvSpPr>
          <p:cNvPr id="32" name="Text 30"/>
          <p:cNvSpPr/>
          <p:nvPr/>
        </p:nvSpPr>
        <p:spPr>
          <a:xfrm>
            <a:off x="457200" y="6492240"/>
            <a:ext cx="7315200" cy="274320"/>
          </a:xfrm>
          <a:prstGeom prst="rect">
            <a:avLst/>
          </a:prstGeom>
          <a:noFill/>
          <a:ln/>
        </p:spPr>
        <p:txBody>
          <a:bodyPr wrap="square" rtlCol="0" anchor="ctr"/>
          <a:lstStyle/>
          <a:p>
            <a:pPr indent="0" marL="0">
              <a:buNone/>
            </a:pPr>
            <a:r>
              <a:rPr lang="en-US" sz="1100" dirty="0">
                <a:solidFill>
                  <a:srgbClr val="5B7B99"/>
                </a:solidFill>
                <a:latin typeface="Calibri" pitchFamily="34" charset="0"/>
                <a:ea typeface="Calibri" pitchFamily="34" charset="-122"/>
                <a:cs typeface="Calibri" pitchFamily="34" charset="-120"/>
              </a:rPr>
              <a:t>ParSU e-Feedback System  |  Development Progress Report</a:t>
            </a:r>
            <a:endParaRPr lang="en-US" sz="1100" dirty="0"/>
          </a:p>
        </p:txBody>
      </p:sp>
      <p:sp>
        <p:nvSpPr>
          <p:cNvPr id="33" name="Text 31"/>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5B7B99"/>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3000" b="1" dirty="0">
                <a:solidFill>
                  <a:srgbClr val="0B3D91"/>
                </a:solidFill>
                <a:latin typeface="Calibri" pitchFamily="34" charset="0"/>
                <a:ea typeface="Calibri" pitchFamily="34" charset="-122"/>
                <a:cs typeface="Calibri" pitchFamily="34" charset="-120"/>
              </a:rPr>
              <a:t>Progress at a Glance</a:t>
            </a:r>
            <a:endParaRPr lang="en-US" sz="3000" dirty="0"/>
          </a:p>
        </p:txBody>
      </p:sp>
      <p:sp>
        <p:nvSpPr>
          <p:cNvPr id="3" name="Shape 1"/>
          <p:cNvSpPr/>
          <p:nvPr/>
        </p:nvSpPr>
        <p:spPr>
          <a:xfrm>
            <a:off x="658368" y="1024128"/>
            <a:ext cx="914400" cy="64008"/>
          </a:xfrm>
          <a:prstGeom prst="rect">
            <a:avLst/>
          </a:prstGeom>
          <a:solidFill>
            <a:srgbClr val="0284C7"/>
          </a:solidFill>
          <a:ln/>
        </p:spPr>
      </p:sp>
      <p:graphicFrame>
        <p:nvGraphicFramePr>
          <p:cNvPr id="4" name="Chart 0" descr=""/>
          <p:cNvGraphicFramePr/>
          <p:nvPr/>
        </p:nvGraphicFramePr>
        <p:xfrm>
          <a:off x="502920" y="1417320"/>
          <a:ext cx="402336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2880360"/>
            <a:ext cx="4023360" cy="640080"/>
          </a:xfrm>
          <a:prstGeom prst="rect">
            <a:avLst/>
          </a:prstGeom>
          <a:noFill/>
          <a:ln/>
        </p:spPr>
        <p:txBody>
          <a:bodyPr wrap="square" rtlCol="0" anchor="ctr"/>
          <a:lstStyle/>
          <a:p>
            <a:pPr algn="ctr" indent="0" marL="0">
              <a:buNone/>
            </a:pPr>
            <a:r>
              <a:rPr lang="en-US" sz="4400" b="1" dirty="0">
                <a:solidFill>
                  <a:srgbClr val="0B3D91"/>
                </a:solidFill>
                <a:latin typeface="Calibri" pitchFamily="34" charset="0"/>
                <a:ea typeface="Calibri" pitchFamily="34" charset="-122"/>
                <a:cs typeface="Calibri" pitchFamily="34" charset="-120"/>
              </a:rPr>
              <a:t>50%</a:t>
            </a:r>
            <a:endParaRPr lang="en-US" sz="4400" dirty="0"/>
          </a:p>
        </p:txBody>
      </p:sp>
      <p:sp>
        <p:nvSpPr>
          <p:cNvPr id="6" name="Text 3"/>
          <p:cNvSpPr/>
          <p:nvPr/>
        </p:nvSpPr>
        <p:spPr>
          <a:xfrm>
            <a:off x="502920" y="3520440"/>
            <a:ext cx="4023360" cy="320040"/>
          </a:xfrm>
          <a:prstGeom prst="rect">
            <a:avLst/>
          </a:prstGeom>
          <a:noFill/>
          <a:ln/>
        </p:spPr>
        <p:txBody>
          <a:bodyPr wrap="square" rtlCol="0" anchor="ctr"/>
          <a:lstStyle/>
          <a:p>
            <a:pPr algn="ctr" indent="0" marL="0">
              <a:buNone/>
            </a:pPr>
            <a:r>
              <a:rPr lang="en-US" sz="1300" b="1" spc="120" kern="0" dirty="0">
                <a:solidFill>
                  <a:srgbClr val="5B7B99"/>
                </a:solidFill>
                <a:latin typeface="Calibri" pitchFamily="34" charset="0"/>
                <a:ea typeface="Calibri" pitchFamily="34" charset="-122"/>
                <a:cs typeface="Calibri" pitchFamily="34" charset="-120"/>
              </a:rPr>
              <a:t>OVERALL COMPLETE</a:t>
            </a:r>
            <a:endParaRPr lang="en-US" sz="1300" dirty="0"/>
          </a:p>
        </p:txBody>
      </p:sp>
      <p:sp>
        <p:nvSpPr>
          <p:cNvPr id="7" name="Text 4"/>
          <p:cNvSpPr/>
          <p:nvPr/>
        </p:nvSpPr>
        <p:spPr>
          <a:xfrm>
            <a:off x="4846320" y="1078992"/>
            <a:ext cx="5486400" cy="274320"/>
          </a:xfrm>
          <a:prstGeom prst="rect">
            <a:avLst/>
          </a:prstGeom>
          <a:noFill/>
          <a:ln/>
        </p:spPr>
        <p:txBody>
          <a:bodyPr wrap="square" rtlCol="0" anchor="ctr"/>
          <a:lstStyle/>
          <a:p>
            <a:pPr indent="0" marL="0">
              <a:buNone/>
            </a:pPr>
            <a:r>
              <a:rPr lang="en-US" sz="1300" b="1" spc="120" kern="0" dirty="0">
                <a:solidFill>
                  <a:srgbClr val="5B7B99"/>
                </a:solidFill>
                <a:latin typeface="Calibri" pitchFamily="34" charset="0"/>
                <a:ea typeface="Calibri" pitchFamily="34" charset="-122"/>
                <a:cs typeface="Calibri" pitchFamily="34" charset="-120"/>
              </a:rPr>
              <a:t>COMPLETION BY MODULE</a:t>
            </a:r>
            <a:endParaRPr lang="en-US" sz="1300" dirty="0"/>
          </a:p>
        </p:txBody>
      </p:sp>
      <p:sp>
        <p:nvSpPr>
          <p:cNvPr id="8" name="Text 5"/>
          <p:cNvSpPr/>
          <p:nvPr/>
        </p:nvSpPr>
        <p:spPr>
          <a:xfrm>
            <a:off x="4846320" y="1508760"/>
            <a:ext cx="237744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Student Portal</a:t>
            </a:r>
            <a:endParaRPr lang="en-US" sz="1400" dirty="0"/>
          </a:p>
        </p:txBody>
      </p:sp>
      <p:sp>
        <p:nvSpPr>
          <p:cNvPr id="9" name="Shape 6"/>
          <p:cNvSpPr/>
          <p:nvPr/>
        </p:nvSpPr>
        <p:spPr>
          <a:xfrm>
            <a:off x="7315200" y="1563624"/>
            <a:ext cx="4114800" cy="237744"/>
          </a:xfrm>
          <a:prstGeom prst="roundRect">
            <a:avLst>
              <a:gd name="adj" fmla="val 19231"/>
            </a:avLst>
          </a:prstGeom>
          <a:solidFill>
            <a:srgbClr val="EAF4FC"/>
          </a:solidFill>
          <a:ln w="9525">
            <a:solidFill>
              <a:srgbClr val="CFE6F7"/>
            </a:solidFill>
            <a:prstDash val="solid"/>
          </a:ln>
        </p:spPr>
      </p:sp>
      <p:sp>
        <p:nvSpPr>
          <p:cNvPr id="10" name="Shape 7"/>
          <p:cNvSpPr/>
          <p:nvPr/>
        </p:nvSpPr>
        <p:spPr>
          <a:xfrm>
            <a:off x="7315200" y="1563624"/>
            <a:ext cx="3291840" cy="237744"/>
          </a:xfrm>
          <a:prstGeom prst="roundRect">
            <a:avLst>
              <a:gd name="adj" fmla="val 19231"/>
            </a:avLst>
          </a:prstGeom>
          <a:solidFill>
            <a:srgbClr val="0369A1"/>
          </a:solidFill>
          <a:ln/>
        </p:spPr>
      </p:sp>
      <p:sp>
        <p:nvSpPr>
          <p:cNvPr id="11" name="Text 8"/>
          <p:cNvSpPr/>
          <p:nvPr/>
        </p:nvSpPr>
        <p:spPr>
          <a:xfrm>
            <a:off x="11521440" y="1490472"/>
            <a:ext cx="502920" cy="36576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80%</a:t>
            </a:r>
            <a:endParaRPr lang="en-US" sz="1400" dirty="0"/>
          </a:p>
        </p:txBody>
      </p:sp>
      <p:sp>
        <p:nvSpPr>
          <p:cNvPr id="12" name="Text 9"/>
          <p:cNvSpPr/>
          <p:nvPr/>
        </p:nvSpPr>
        <p:spPr>
          <a:xfrm>
            <a:off x="4846320" y="2075688"/>
            <a:ext cx="237744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Staff Workflow</a:t>
            </a:r>
            <a:endParaRPr lang="en-US" sz="1400" dirty="0"/>
          </a:p>
        </p:txBody>
      </p:sp>
      <p:sp>
        <p:nvSpPr>
          <p:cNvPr id="13" name="Shape 10"/>
          <p:cNvSpPr/>
          <p:nvPr/>
        </p:nvSpPr>
        <p:spPr>
          <a:xfrm>
            <a:off x="7315200" y="2130552"/>
            <a:ext cx="4114800" cy="237744"/>
          </a:xfrm>
          <a:prstGeom prst="roundRect">
            <a:avLst>
              <a:gd name="adj" fmla="val 19231"/>
            </a:avLst>
          </a:prstGeom>
          <a:solidFill>
            <a:srgbClr val="EAF4FC"/>
          </a:solidFill>
          <a:ln w="9525">
            <a:solidFill>
              <a:srgbClr val="CFE6F7"/>
            </a:solidFill>
            <a:prstDash val="solid"/>
          </a:ln>
        </p:spPr>
      </p:sp>
      <p:sp>
        <p:nvSpPr>
          <p:cNvPr id="14" name="Shape 11"/>
          <p:cNvSpPr/>
          <p:nvPr/>
        </p:nvSpPr>
        <p:spPr>
          <a:xfrm>
            <a:off x="7315200" y="2130552"/>
            <a:ext cx="2880360" cy="237744"/>
          </a:xfrm>
          <a:prstGeom prst="roundRect">
            <a:avLst>
              <a:gd name="adj" fmla="val 19231"/>
            </a:avLst>
          </a:prstGeom>
          <a:solidFill>
            <a:srgbClr val="0369A1"/>
          </a:solidFill>
          <a:ln/>
        </p:spPr>
      </p:sp>
      <p:sp>
        <p:nvSpPr>
          <p:cNvPr id="15" name="Text 12"/>
          <p:cNvSpPr/>
          <p:nvPr/>
        </p:nvSpPr>
        <p:spPr>
          <a:xfrm>
            <a:off x="11521440" y="2057400"/>
            <a:ext cx="502920" cy="36576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70%</a:t>
            </a:r>
            <a:endParaRPr lang="en-US" sz="1400" dirty="0"/>
          </a:p>
        </p:txBody>
      </p:sp>
      <p:sp>
        <p:nvSpPr>
          <p:cNvPr id="16" name="Text 13"/>
          <p:cNvSpPr/>
          <p:nvPr/>
        </p:nvSpPr>
        <p:spPr>
          <a:xfrm>
            <a:off x="4846320" y="2642616"/>
            <a:ext cx="237744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Dean Oversight</a:t>
            </a:r>
            <a:endParaRPr lang="en-US" sz="1400" dirty="0"/>
          </a:p>
        </p:txBody>
      </p:sp>
      <p:sp>
        <p:nvSpPr>
          <p:cNvPr id="17" name="Shape 14"/>
          <p:cNvSpPr/>
          <p:nvPr/>
        </p:nvSpPr>
        <p:spPr>
          <a:xfrm>
            <a:off x="7315200" y="2697480"/>
            <a:ext cx="4114800" cy="237744"/>
          </a:xfrm>
          <a:prstGeom prst="roundRect">
            <a:avLst>
              <a:gd name="adj" fmla="val 19231"/>
            </a:avLst>
          </a:prstGeom>
          <a:solidFill>
            <a:srgbClr val="EAF4FC"/>
          </a:solidFill>
          <a:ln w="9525">
            <a:solidFill>
              <a:srgbClr val="CFE6F7"/>
            </a:solidFill>
            <a:prstDash val="solid"/>
          </a:ln>
        </p:spPr>
      </p:sp>
      <p:sp>
        <p:nvSpPr>
          <p:cNvPr id="18" name="Shape 15"/>
          <p:cNvSpPr/>
          <p:nvPr/>
        </p:nvSpPr>
        <p:spPr>
          <a:xfrm>
            <a:off x="7315200" y="2697480"/>
            <a:ext cx="2263140" cy="237744"/>
          </a:xfrm>
          <a:prstGeom prst="roundRect">
            <a:avLst>
              <a:gd name="adj" fmla="val 19231"/>
            </a:avLst>
          </a:prstGeom>
          <a:solidFill>
            <a:srgbClr val="0284C7"/>
          </a:solidFill>
          <a:ln/>
        </p:spPr>
      </p:sp>
      <p:sp>
        <p:nvSpPr>
          <p:cNvPr id="19" name="Text 16"/>
          <p:cNvSpPr/>
          <p:nvPr/>
        </p:nvSpPr>
        <p:spPr>
          <a:xfrm>
            <a:off x="11521440" y="2624328"/>
            <a:ext cx="502920" cy="36576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55%</a:t>
            </a:r>
            <a:endParaRPr lang="en-US" sz="1400" dirty="0"/>
          </a:p>
        </p:txBody>
      </p:sp>
      <p:sp>
        <p:nvSpPr>
          <p:cNvPr id="20" name="Text 17"/>
          <p:cNvSpPr/>
          <p:nvPr/>
        </p:nvSpPr>
        <p:spPr>
          <a:xfrm>
            <a:off x="4846320" y="3209544"/>
            <a:ext cx="237744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QA &amp; Analytics</a:t>
            </a:r>
            <a:endParaRPr lang="en-US" sz="1400" dirty="0"/>
          </a:p>
        </p:txBody>
      </p:sp>
      <p:sp>
        <p:nvSpPr>
          <p:cNvPr id="21" name="Shape 18"/>
          <p:cNvSpPr/>
          <p:nvPr/>
        </p:nvSpPr>
        <p:spPr>
          <a:xfrm>
            <a:off x="7315200" y="3264408"/>
            <a:ext cx="4114800" cy="237744"/>
          </a:xfrm>
          <a:prstGeom prst="roundRect">
            <a:avLst>
              <a:gd name="adj" fmla="val 19231"/>
            </a:avLst>
          </a:prstGeom>
          <a:solidFill>
            <a:srgbClr val="EAF4FC"/>
          </a:solidFill>
          <a:ln w="9525">
            <a:solidFill>
              <a:srgbClr val="CFE6F7"/>
            </a:solidFill>
            <a:prstDash val="solid"/>
          </a:ln>
        </p:spPr>
      </p:sp>
      <p:sp>
        <p:nvSpPr>
          <p:cNvPr id="22" name="Shape 19"/>
          <p:cNvSpPr/>
          <p:nvPr/>
        </p:nvSpPr>
        <p:spPr>
          <a:xfrm>
            <a:off x="7315200" y="3264408"/>
            <a:ext cx="1645920" cy="237744"/>
          </a:xfrm>
          <a:prstGeom prst="roundRect">
            <a:avLst>
              <a:gd name="adj" fmla="val 19231"/>
            </a:avLst>
          </a:prstGeom>
          <a:solidFill>
            <a:srgbClr val="0284C7"/>
          </a:solidFill>
          <a:ln/>
        </p:spPr>
      </p:sp>
      <p:sp>
        <p:nvSpPr>
          <p:cNvPr id="23" name="Text 20"/>
          <p:cNvSpPr/>
          <p:nvPr/>
        </p:nvSpPr>
        <p:spPr>
          <a:xfrm>
            <a:off x="11521440" y="3191256"/>
            <a:ext cx="502920" cy="36576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40%</a:t>
            </a:r>
            <a:endParaRPr lang="en-US" sz="1400" dirty="0"/>
          </a:p>
        </p:txBody>
      </p:sp>
      <p:sp>
        <p:nvSpPr>
          <p:cNvPr id="24" name="Text 21"/>
          <p:cNvSpPr/>
          <p:nvPr/>
        </p:nvSpPr>
        <p:spPr>
          <a:xfrm>
            <a:off x="4846320" y="3776472"/>
            <a:ext cx="237744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Admin Controls</a:t>
            </a:r>
            <a:endParaRPr lang="en-US" sz="1400" dirty="0"/>
          </a:p>
        </p:txBody>
      </p:sp>
      <p:sp>
        <p:nvSpPr>
          <p:cNvPr id="25" name="Shape 22"/>
          <p:cNvSpPr/>
          <p:nvPr/>
        </p:nvSpPr>
        <p:spPr>
          <a:xfrm>
            <a:off x="7315200" y="3831336"/>
            <a:ext cx="4114800" cy="237744"/>
          </a:xfrm>
          <a:prstGeom prst="roundRect">
            <a:avLst>
              <a:gd name="adj" fmla="val 19231"/>
            </a:avLst>
          </a:prstGeom>
          <a:solidFill>
            <a:srgbClr val="EAF4FC"/>
          </a:solidFill>
          <a:ln w="9525">
            <a:solidFill>
              <a:srgbClr val="CFE6F7"/>
            </a:solidFill>
            <a:prstDash val="solid"/>
          </a:ln>
        </p:spPr>
      </p:sp>
      <p:sp>
        <p:nvSpPr>
          <p:cNvPr id="26" name="Shape 23"/>
          <p:cNvSpPr/>
          <p:nvPr/>
        </p:nvSpPr>
        <p:spPr>
          <a:xfrm>
            <a:off x="7315200" y="3831336"/>
            <a:ext cx="1851660" cy="237744"/>
          </a:xfrm>
          <a:prstGeom prst="roundRect">
            <a:avLst>
              <a:gd name="adj" fmla="val 19231"/>
            </a:avLst>
          </a:prstGeom>
          <a:solidFill>
            <a:srgbClr val="0284C7"/>
          </a:solidFill>
          <a:ln/>
        </p:spPr>
      </p:sp>
      <p:sp>
        <p:nvSpPr>
          <p:cNvPr id="27" name="Text 24"/>
          <p:cNvSpPr/>
          <p:nvPr/>
        </p:nvSpPr>
        <p:spPr>
          <a:xfrm>
            <a:off x="11521440" y="3758184"/>
            <a:ext cx="502920" cy="36576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45%</a:t>
            </a:r>
            <a:endParaRPr lang="en-US" sz="1400" dirty="0"/>
          </a:p>
        </p:txBody>
      </p:sp>
      <p:sp>
        <p:nvSpPr>
          <p:cNvPr id="28" name="Text 25"/>
          <p:cNvSpPr/>
          <p:nvPr/>
        </p:nvSpPr>
        <p:spPr>
          <a:xfrm>
            <a:off x="4846320" y="4343400"/>
            <a:ext cx="237744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Notifications &amp; Email</a:t>
            </a:r>
            <a:endParaRPr lang="en-US" sz="1400" dirty="0"/>
          </a:p>
        </p:txBody>
      </p:sp>
      <p:sp>
        <p:nvSpPr>
          <p:cNvPr id="29" name="Shape 26"/>
          <p:cNvSpPr/>
          <p:nvPr/>
        </p:nvSpPr>
        <p:spPr>
          <a:xfrm>
            <a:off x="7315200" y="4398264"/>
            <a:ext cx="4114800" cy="237744"/>
          </a:xfrm>
          <a:prstGeom prst="roundRect">
            <a:avLst>
              <a:gd name="adj" fmla="val 19231"/>
            </a:avLst>
          </a:prstGeom>
          <a:solidFill>
            <a:srgbClr val="EAF4FC"/>
          </a:solidFill>
          <a:ln w="9525">
            <a:solidFill>
              <a:srgbClr val="CFE6F7"/>
            </a:solidFill>
            <a:prstDash val="solid"/>
          </a:ln>
        </p:spPr>
      </p:sp>
      <p:sp>
        <p:nvSpPr>
          <p:cNvPr id="30" name="Shape 27"/>
          <p:cNvSpPr/>
          <p:nvPr/>
        </p:nvSpPr>
        <p:spPr>
          <a:xfrm>
            <a:off x="7315200" y="4398264"/>
            <a:ext cx="1440180" cy="237744"/>
          </a:xfrm>
          <a:prstGeom prst="roundRect">
            <a:avLst>
              <a:gd name="adj" fmla="val 19231"/>
            </a:avLst>
          </a:prstGeom>
          <a:solidFill>
            <a:srgbClr val="38BDF8"/>
          </a:solidFill>
          <a:ln/>
        </p:spPr>
      </p:sp>
      <p:sp>
        <p:nvSpPr>
          <p:cNvPr id="31" name="Text 28"/>
          <p:cNvSpPr/>
          <p:nvPr/>
        </p:nvSpPr>
        <p:spPr>
          <a:xfrm>
            <a:off x="11521440" y="4325112"/>
            <a:ext cx="502920" cy="36576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35%</a:t>
            </a:r>
            <a:endParaRPr lang="en-US" sz="1400" dirty="0"/>
          </a:p>
        </p:txBody>
      </p:sp>
      <p:sp>
        <p:nvSpPr>
          <p:cNvPr id="32" name="Text 29"/>
          <p:cNvSpPr/>
          <p:nvPr/>
        </p:nvSpPr>
        <p:spPr>
          <a:xfrm>
            <a:off x="4846320" y="4910328"/>
            <a:ext cx="2377440" cy="365760"/>
          </a:xfrm>
          <a:prstGeom prst="rect">
            <a:avLst/>
          </a:prstGeom>
          <a:noFill/>
          <a:ln/>
        </p:spPr>
        <p:txBody>
          <a:bodyPr wrap="square" rtlCol="0" anchor="ctr"/>
          <a:lstStyle/>
          <a:p>
            <a:pPr indent="0" marL="0">
              <a:buNone/>
            </a:pPr>
            <a:r>
              <a:rPr lang="en-US" sz="1400" b="1" dirty="0">
                <a:solidFill>
                  <a:srgbClr val="1E3A5F"/>
                </a:solidFill>
                <a:latin typeface="Calibri" pitchFamily="34" charset="0"/>
                <a:ea typeface="Calibri" pitchFamily="34" charset="-122"/>
                <a:cs typeface="Calibri" pitchFamily="34" charset="-120"/>
              </a:rPr>
              <a:t>Reporting Suite</a:t>
            </a:r>
            <a:endParaRPr lang="en-US" sz="1400" dirty="0"/>
          </a:p>
        </p:txBody>
      </p:sp>
      <p:sp>
        <p:nvSpPr>
          <p:cNvPr id="33" name="Shape 30"/>
          <p:cNvSpPr/>
          <p:nvPr/>
        </p:nvSpPr>
        <p:spPr>
          <a:xfrm>
            <a:off x="7315200" y="4965192"/>
            <a:ext cx="4114800" cy="237744"/>
          </a:xfrm>
          <a:prstGeom prst="roundRect">
            <a:avLst>
              <a:gd name="adj" fmla="val 19231"/>
            </a:avLst>
          </a:prstGeom>
          <a:solidFill>
            <a:srgbClr val="EAF4FC"/>
          </a:solidFill>
          <a:ln w="9525">
            <a:solidFill>
              <a:srgbClr val="CFE6F7"/>
            </a:solidFill>
            <a:prstDash val="solid"/>
          </a:ln>
        </p:spPr>
      </p:sp>
      <p:sp>
        <p:nvSpPr>
          <p:cNvPr id="34" name="Shape 31"/>
          <p:cNvSpPr/>
          <p:nvPr/>
        </p:nvSpPr>
        <p:spPr>
          <a:xfrm>
            <a:off x="7315200" y="4965192"/>
            <a:ext cx="1028700" cy="237744"/>
          </a:xfrm>
          <a:prstGeom prst="roundRect">
            <a:avLst>
              <a:gd name="adj" fmla="val 19231"/>
            </a:avLst>
          </a:prstGeom>
          <a:solidFill>
            <a:srgbClr val="38BDF8"/>
          </a:solidFill>
          <a:ln/>
        </p:spPr>
      </p:sp>
      <p:sp>
        <p:nvSpPr>
          <p:cNvPr id="35" name="Text 32"/>
          <p:cNvSpPr/>
          <p:nvPr/>
        </p:nvSpPr>
        <p:spPr>
          <a:xfrm>
            <a:off x="11521440" y="4892040"/>
            <a:ext cx="502920" cy="36576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25%</a:t>
            </a:r>
            <a:endParaRPr lang="en-US" sz="1400" dirty="0"/>
          </a:p>
        </p:txBody>
      </p:sp>
      <p:sp>
        <p:nvSpPr>
          <p:cNvPr id="36" name="Text 33"/>
          <p:cNvSpPr/>
          <p:nvPr/>
        </p:nvSpPr>
        <p:spPr>
          <a:xfrm>
            <a:off x="457200" y="6492240"/>
            <a:ext cx="7315200" cy="274320"/>
          </a:xfrm>
          <a:prstGeom prst="rect">
            <a:avLst/>
          </a:prstGeom>
          <a:noFill/>
          <a:ln/>
        </p:spPr>
        <p:txBody>
          <a:bodyPr wrap="square" rtlCol="0" anchor="ctr"/>
          <a:lstStyle/>
          <a:p>
            <a:pPr indent="0" marL="0">
              <a:buNone/>
            </a:pPr>
            <a:r>
              <a:rPr lang="en-US" sz="1100" dirty="0">
                <a:solidFill>
                  <a:srgbClr val="5B7B99"/>
                </a:solidFill>
                <a:latin typeface="Calibri" pitchFamily="34" charset="0"/>
                <a:ea typeface="Calibri" pitchFamily="34" charset="-122"/>
                <a:cs typeface="Calibri" pitchFamily="34" charset="-120"/>
              </a:rPr>
              <a:t>ParSU e-Feedback System  |  Development Progress Report</a:t>
            </a:r>
            <a:endParaRPr lang="en-US" sz="1100" dirty="0"/>
          </a:p>
        </p:txBody>
      </p:sp>
      <p:sp>
        <p:nvSpPr>
          <p:cNvPr id="37" name="Text 34"/>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5B7B99"/>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548640"/>
          </a:xfrm>
          <a:prstGeom prst="rect">
            <a:avLst/>
          </a:prstGeom>
          <a:noFill/>
          <a:ln/>
        </p:spPr>
        <p:txBody>
          <a:bodyPr wrap="square" rtlCol="0" anchor="ctr"/>
          <a:lstStyle/>
          <a:p>
            <a:pPr indent="0" marL="0">
              <a:buNone/>
            </a:pPr>
            <a:r>
              <a:rPr lang="en-US" sz="3000" b="1" dirty="0">
                <a:solidFill>
                  <a:srgbClr val="0B3D91"/>
                </a:solidFill>
                <a:latin typeface="Calibri" pitchFamily="34" charset="0"/>
                <a:ea typeface="Calibri" pitchFamily="34" charset="-122"/>
                <a:cs typeface="Calibri" pitchFamily="34" charset="-120"/>
              </a:rPr>
              <a:t>What's Done — Core Platform</a:t>
            </a:r>
            <a:endParaRPr lang="en-US" sz="3000" dirty="0"/>
          </a:p>
        </p:txBody>
      </p:sp>
      <p:sp>
        <p:nvSpPr>
          <p:cNvPr id="3" name="Shape 1"/>
          <p:cNvSpPr/>
          <p:nvPr/>
        </p:nvSpPr>
        <p:spPr>
          <a:xfrm>
            <a:off x="658368" y="1024128"/>
            <a:ext cx="914400" cy="64008"/>
          </a:xfrm>
          <a:prstGeom prst="rect">
            <a:avLst/>
          </a:prstGeom>
          <a:solidFill>
            <a:srgbClr val="0284C7"/>
          </a:solidFill>
          <a:ln/>
        </p:spPr>
      </p:sp>
      <p:sp>
        <p:nvSpPr>
          <p:cNvPr id="4" name="Shape 2"/>
          <p:cNvSpPr/>
          <p:nvPr/>
        </p:nvSpPr>
        <p:spPr>
          <a:xfrm>
            <a:off x="9646920" y="475488"/>
            <a:ext cx="1920240" cy="475488"/>
          </a:xfrm>
          <a:prstGeom prst="roundRect">
            <a:avLst>
              <a:gd name="adj" fmla="val 50000"/>
            </a:avLst>
          </a:prstGeom>
          <a:solidFill>
            <a:srgbClr val="EAF4FC"/>
          </a:solidFill>
          <a:ln w="15875">
            <a:solidFill>
              <a:srgbClr val="0369A1"/>
            </a:solidFill>
            <a:prstDash val="solid"/>
          </a:ln>
        </p:spPr>
      </p:sp>
      <p:sp>
        <p:nvSpPr>
          <p:cNvPr id="5" name="Text 3"/>
          <p:cNvSpPr/>
          <p:nvPr/>
        </p:nvSpPr>
        <p:spPr>
          <a:xfrm>
            <a:off x="9646920" y="475488"/>
            <a:ext cx="1920240" cy="475488"/>
          </a:xfrm>
          <a:prstGeom prst="rect">
            <a:avLst/>
          </a:prstGeom>
          <a:noFill/>
          <a:ln/>
        </p:spPr>
        <p:txBody>
          <a:bodyPr wrap="square" rtlCol="0" anchor="ctr"/>
          <a:lstStyle/>
          <a:p>
            <a:pPr algn="ctr" indent="0" marL="0">
              <a:buNone/>
            </a:pPr>
            <a:r>
              <a:rPr lang="en-US" sz="1250" b="1" dirty="0">
                <a:solidFill>
                  <a:srgbClr val="0369A1"/>
                </a:solidFill>
                <a:latin typeface="Calibri" pitchFamily="34" charset="0"/>
                <a:ea typeface="Calibri" pitchFamily="34" charset="-122"/>
                <a:cs typeface="Calibri" pitchFamily="34" charset="-120"/>
              </a:rPr>
              <a:t>COMPLETED</a:t>
            </a:r>
            <a:endParaRPr lang="en-US" sz="1250" dirty="0"/>
          </a:p>
        </p:txBody>
      </p:sp>
      <p:sp>
        <p:nvSpPr>
          <p:cNvPr id="6" name="Shape 4"/>
          <p:cNvSpPr/>
          <p:nvPr/>
        </p:nvSpPr>
        <p:spPr>
          <a:xfrm>
            <a:off x="640080" y="1417320"/>
            <a:ext cx="5349240" cy="1508760"/>
          </a:xfrm>
          <a:prstGeom prst="roundRect">
            <a:avLst>
              <a:gd name="adj" fmla="val 5455"/>
            </a:avLst>
          </a:prstGeom>
          <a:solidFill>
            <a:srgbClr val="EAF4FC"/>
          </a:solidFill>
          <a:ln w="15875">
            <a:solidFill>
              <a:srgbClr val="CFE6F7"/>
            </a:solidFill>
            <a:prstDash val="solid"/>
          </a:ln>
        </p:spPr>
      </p:sp>
      <p:sp>
        <p:nvSpPr>
          <p:cNvPr id="7" name="Shape 5"/>
          <p:cNvSpPr/>
          <p:nvPr/>
        </p:nvSpPr>
        <p:spPr>
          <a:xfrm>
            <a:off x="640080" y="1417320"/>
            <a:ext cx="82296" cy="1508760"/>
          </a:xfrm>
          <a:prstGeom prst="rect">
            <a:avLst/>
          </a:prstGeom>
          <a:solidFill>
            <a:srgbClr val="0284C7"/>
          </a:solidFill>
          <a:ln/>
        </p:spPr>
      </p:sp>
      <p:sp>
        <p:nvSpPr>
          <p:cNvPr id="8" name="Text 6"/>
          <p:cNvSpPr/>
          <p:nvPr/>
        </p:nvSpPr>
        <p:spPr>
          <a:xfrm>
            <a:off x="932688" y="1581912"/>
            <a:ext cx="480060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Authentication &amp; Access</a:t>
            </a:r>
            <a:endParaRPr lang="en-US" sz="1550" dirty="0"/>
          </a:p>
        </p:txBody>
      </p:sp>
      <p:sp>
        <p:nvSpPr>
          <p:cNvPr id="9" name="Text 7"/>
          <p:cNvSpPr/>
          <p:nvPr/>
        </p:nvSpPr>
        <p:spPr>
          <a:xfrm>
            <a:off x="932688" y="198424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Registration, login, password reset, and role-based routing for all five user types are working end to end.</a:t>
            </a:r>
            <a:endParaRPr lang="en-US" sz="1250" dirty="0"/>
          </a:p>
        </p:txBody>
      </p:sp>
      <p:sp>
        <p:nvSpPr>
          <p:cNvPr id="10" name="Shape 8"/>
          <p:cNvSpPr/>
          <p:nvPr/>
        </p:nvSpPr>
        <p:spPr>
          <a:xfrm>
            <a:off x="6263640" y="1417320"/>
            <a:ext cx="5349240" cy="1508760"/>
          </a:xfrm>
          <a:prstGeom prst="roundRect">
            <a:avLst>
              <a:gd name="adj" fmla="val 5455"/>
            </a:avLst>
          </a:prstGeom>
          <a:solidFill>
            <a:srgbClr val="EAF4FC"/>
          </a:solidFill>
          <a:ln w="15875">
            <a:solidFill>
              <a:srgbClr val="CFE6F7"/>
            </a:solidFill>
            <a:prstDash val="solid"/>
          </a:ln>
        </p:spPr>
      </p:sp>
      <p:sp>
        <p:nvSpPr>
          <p:cNvPr id="11" name="Shape 9"/>
          <p:cNvSpPr/>
          <p:nvPr/>
        </p:nvSpPr>
        <p:spPr>
          <a:xfrm>
            <a:off x="6263640" y="1417320"/>
            <a:ext cx="82296" cy="1508760"/>
          </a:xfrm>
          <a:prstGeom prst="rect">
            <a:avLst/>
          </a:prstGeom>
          <a:solidFill>
            <a:srgbClr val="0284C7"/>
          </a:solidFill>
          <a:ln/>
        </p:spPr>
      </p:sp>
      <p:sp>
        <p:nvSpPr>
          <p:cNvPr id="12" name="Text 10"/>
          <p:cNvSpPr/>
          <p:nvPr/>
        </p:nvSpPr>
        <p:spPr>
          <a:xfrm>
            <a:off x="6556248" y="1581912"/>
            <a:ext cx="480060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Complaint Submission</a:t>
            </a:r>
            <a:endParaRPr lang="en-US" sz="1550" dirty="0"/>
          </a:p>
        </p:txBody>
      </p:sp>
      <p:sp>
        <p:nvSpPr>
          <p:cNvPr id="13" name="Text 11"/>
          <p:cNvSpPr/>
          <p:nvPr/>
        </p:nvSpPr>
        <p:spPr>
          <a:xfrm>
            <a:off x="6556248" y="198424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Students can file complaints with category selection, descriptions, and file attachments through a guided form.</a:t>
            </a:r>
            <a:endParaRPr lang="en-US" sz="1250" dirty="0"/>
          </a:p>
        </p:txBody>
      </p:sp>
      <p:sp>
        <p:nvSpPr>
          <p:cNvPr id="14" name="Shape 12"/>
          <p:cNvSpPr/>
          <p:nvPr/>
        </p:nvSpPr>
        <p:spPr>
          <a:xfrm>
            <a:off x="640080" y="3108960"/>
            <a:ext cx="5349240" cy="1508760"/>
          </a:xfrm>
          <a:prstGeom prst="roundRect">
            <a:avLst>
              <a:gd name="adj" fmla="val 5455"/>
            </a:avLst>
          </a:prstGeom>
          <a:solidFill>
            <a:srgbClr val="EAF4FC"/>
          </a:solidFill>
          <a:ln w="15875">
            <a:solidFill>
              <a:srgbClr val="CFE6F7"/>
            </a:solidFill>
            <a:prstDash val="solid"/>
          </a:ln>
        </p:spPr>
      </p:sp>
      <p:sp>
        <p:nvSpPr>
          <p:cNvPr id="15" name="Shape 13"/>
          <p:cNvSpPr/>
          <p:nvPr/>
        </p:nvSpPr>
        <p:spPr>
          <a:xfrm>
            <a:off x="640080" y="3108960"/>
            <a:ext cx="82296" cy="1508760"/>
          </a:xfrm>
          <a:prstGeom prst="rect">
            <a:avLst/>
          </a:prstGeom>
          <a:solidFill>
            <a:srgbClr val="0284C7"/>
          </a:solidFill>
          <a:ln/>
        </p:spPr>
      </p:sp>
      <p:sp>
        <p:nvSpPr>
          <p:cNvPr id="16" name="Text 14"/>
          <p:cNvSpPr/>
          <p:nvPr/>
        </p:nvSpPr>
        <p:spPr>
          <a:xfrm>
            <a:off x="932688" y="3273552"/>
            <a:ext cx="480060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Complaint Tracking</a:t>
            </a:r>
            <a:endParaRPr lang="en-US" sz="1550" dirty="0"/>
          </a:p>
        </p:txBody>
      </p:sp>
      <p:sp>
        <p:nvSpPr>
          <p:cNvPr id="17" name="Text 15"/>
          <p:cNvSpPr/>
          <p:nvPr/>
        </p:nvSpPr>
        <p:spPr>
          <a:xfrm>
            <a:off x="932688" y="367588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Students and staff can view complaint lists, filter/sort, and open a detailed timeline of each ticket.</a:t>
            </a:r>
            <a:endParaRPr lang="en-US" sz="1250" dirty="0"/>
          </a:p>
        </p:txBody>
      </p:sp>
      <p:sp>
        <p:nvSpPr>
          <p:cNvPr id="18" name="Shape 16"/>
          <p:cNvSpPr/>
          <p:nvPr/>
        </p:nvSpPr>
        <p:spPr>
          <a:xfrm>
            <a:off x="6263640" y="3108960"/>
            <a:ext cx="5349240" cy="1508760"/>
          </a:xfrm>
          <a:prstGeom prst="roundRect">
            <a:avLst>
              <a:gd name="adj" fmla="val 5455"/>
            </a:avLst>
          </a:prstGeom>
          <a:solidFill>
            <a:srgbClr val="EAF4FC"/>
          </a:solidFill>
          <a:ln w="15875">
            <a:solidFill>
              <a:srgbClr val="CFE6F7"/>
            </a:solidFill>
            <a:prstDash val="solid"/>
          </a:ln>
        </p:spPr>
      </p:sp>
      <p:sp>
        <p:nvSpPr>
          <p:cNvPr id="19" name="Shape 17"/>
          <p:cNvSpPr/>
          <p:nvPr/>
        </p:nvSpPr>
        <p:spPr>
          <a:xfrm>
            <a:off x="6263640" y="3108960"/>
            <a:ext cx="82296" cy="1508760"/>
          </a:xfrm>
          <a:prstGeom prst="rect">
            <a:avLst/>
          </a:prstGeom>
          <a:solidFill>
            <a:srgbClr val="0284C7"/>
          </a:solidFill>
          <a:ln/>
        </p:spPr>
      </p:sp>
      <p:sp>
        <p:nvSpPr>
          <p:cNvPr id="20" name="Text 18"/>
          <p:cNvSpPr/>
          <p:nvPr/>
        </p:nvSpPr>
        <p:spPr>
          <a:xfrm>
            <a:off x="6556248" y="3273552"/>
            <a:ext cx="480060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Staff Resolution Workflow</a:t>
            </a:r>
            <a:endParaRPr lang="en-US" sz="1550" dirty="0"/>
          </a:p>
        </p:txBody>
      </p:sp>
      <p:sp>
        <p:nvSpPr>
          <p:cNvPr id="21" name="Text 19"/>
          <p:cNvSpPr/>
          <p:nvPr/>
        </p:nvSpPr>
        <p:spPr>
          <a:xfrm>
            <a:off x="6556248" y="367588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Staff can self-assign tickets, update statuses, add internal notes, and message students.</a:t>
            </a:r>
            <a:endParaRPr lang="en-US" sz="1250" dirty="0"/>
          </a:p>
        </p:txBody>
      </p:sp>
      <p:sp>
        <p:nvSpPr>
          <p:cNvPr id="22" name="Shape 20"/>
          <p:cNvSpPr/>
          <p:nvPr/>
        </p:nvSpPr>
        <p:spPr>
          <a:xfrm>
            <a:off x="640080" y="4800600"/>
            <a:ext cx="5349240" cy="1508760"/>
          </a:xfrm>
          <a:prstGeom prst="roundRect">
            <a:avLst>
              <a:gd name="adj" fmla="val 5455"/>
            </a:avLst>
          </a:prstGeom>
          <a:solidFill>
            <a:srgbClr val="EAF4FC"/>
          </a:solidFill>
          <a:ln w="15875">
            <a:solidFill>
              <a:srgbClr val="CFE6F7"/>
            </a:solidFill>
            <a:prstDash val="solid"/>
          </a:ln>
        </p:spPr>
      </p:sp>
      <p:sp>
        <p:nvSpPr>
          <p:cNvPr id="23" name="Shape 21"/>
          <p:cNvSpPr/>
          <p:nvPr/>
        </p:nvSpPr>
        <p:spPr>
          <a:xfrm>
            <a:off x="640080" y="4800600"/>
            <a:ext cx="82296" cy="1508760"/>
          </a:xfrm>
          <a:prstGeom prst="rect">
            <a:avLst/>
          </a:prstGeom>
          <a:solidFill>
            <a:srgbClr val="0284C7"/>
          </a:solidFill>
          <a:ln/>
        </p:spPr>
      </p:sp>
      <p:sp>
        <p:nvSpPr>
          <p:cNvPr id="24" name="Text 22"/>
          <p:cNvSpPr/>
          <p:nvPr/>
        </p:nvSpPr>
        <p:spPr>
          <a:xfrm>
            <a:off x="932688" y="4965192"/>
            <a:ext cx="480060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Role-Based Dashboards</a:t>
            </a:r>
            <a:endParaRPr lang="en-US" sz="1550" dirty="0"/>
          </a:p>
        </p:txBody>
      </p:sp>
      <p:sp>
        <p:nvSpPr>
          <p:cNvPr id="25" name="Text 23"/>
          <p:cNvSpPr/>
          <p:nvPr/>
        </p:nvSpPr>
        <p:spPr>
          <a:xfrm>
            <a:off x="932688" y="536752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Each role (Student, Staff, Dean, QA, Admin) has a working dashboard summarizing relevant activity.</a:t>
            </a:r>
            <a:endParaRPr lang="en-US" sz="1250" dirty="0"/>
          </a:p>
        </p:txBody>
      </p:sp>
      <p:sp>
        <p:nvSpPr>
          <p:cNvPr id="26" name="Shape 24"/>
          <p:cNvSpPr/>
          <p:nvPr/>
        </p:nvSpPr>
        <p:spPr>
          <a:xfrm>
            <a:off x="6263640" y="4800600"/>
            <a:ext cx="5349240" cy="1508760"/>
          </a:xfrm>
          <a:prstGeom prst="roundRect">
            <a:avLst>
              <a:gd name="adj" fmla="val 5455"/>
            </a:avLst>
          </a:prstGeom>
          <a:solidFill>
            <a:srgbClr val="EAF4FC"/>
          </a:solidFill>
          <a:ln w="15875">
            <a:solidFill>
              <a:srgbClr val="CFE6F7"/>
            </a:solidFill>
            <a:prstDash val="solid"/>
          </a:ln>
        </p:spPr>
      </p:sp>
      <p:sp>
        <p:nvSpPr>
          <p:cNvPr id="27" name="Shape 25"/>
          <p:cNvSpPr/>
          <p:nvPr/>
        </p:nvSpPr>
        <p:spPr>
          <a:xfrm>
            <a:off x="6263640" y="4800600"/>
            <a:ext cx="82296" cy="1508760"/>
          </a:xfrm>
          <a:prstGeom prst="rect">
            <a:avLst/>
          </a:prstGeom>
          <a:solidFill>
            <a:srgbClr val="0284C7"/>
          </a:solidFill>
          <a:ln/>
        </p:spPr>
      </p:sp>
      <p:sp>
        <p:nvSpPr>
          <p:cNvPr id="28" name="Text 26"/>
          <p:cNvSpPr/>
          <p:nvPr/>
        </p:nvSpPr>
        <p:spPr>
          <a:xfrm>
            <a:off x="6556248" y="4965192"/>
            <a:ext cx="480060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Database &amp; Data Model</a:t>
            </a:r>
            <a:endParaRPr lang="en-US" sz="1550" dirty="0"/>
          </a:p>
        </p:txBody>
      </p:sp>
      <p:sp>
        <p:nvSpPr>
          <p:cNvPr id="29" name="Text 27"/>
          <p:cNvSpPr/>
          <p:nvPr/>
        </p:nvSpPr>
        <p:spPr>
          <a:xfrm>
            <a:off x="6556248" y="536752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Core schema for complaints, users, offices, categories, attachments, and audit logs is finalized (see ERD).</a:t>
            </a:r>
            <a:endParaRPr lang="en-US" sz="125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1100" dirty="0">
                <a:solidFill>
                  <a:srgbClr val="5B7B99"/>
                </a:solidFill>
                <a:latin typeface="Calibri" pitchFamily="34" charset="0"/>
                <a:ea typeface="Calibri" pitchFamily="34" charset="-122"/>
                <a:cs typeface="Calibri" pitchFamily="34" charset="-120"/>
              </a:rPr>
              <a:t>ParSU e-Feedback System  |  Development Progress Report</a:t>
            </a:r>
            <a:endParaRPr lang="en-US" sz="1100" dirty="0"/>
          </a:p>
        </p:txBody>
      </p:sp>
      <p:sp>
        <p:nvSpPr>
          <p:cNvPr id="31" name="Text 29"/>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5B7B99"/>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8229600" cy="548640"/>
          </a:xfrm>
          <a:prstGeom prst="rect">
            <a:avLst/>
          </a:prstGeom>
          <a:noFill/>
          <a:ln/>
        </p:spPr>
        <p:txBody>
          <a:bodyPr wrap="square" rtlCol="0" anchor="ctr"/>
          <a:lstStyle/>
          <a:p>
            <a:pPr indent="0" marL="0">
              <a:buNone/>
            </a:pPr>
            <a:r>
              <a:rPr lang="en-US" sz="3000" b="1" dirty="0">
                <a:solidFill>
                  <a:srgbClr val="0B3D91"/>
                </a:solidFill>
                <a:latin typeface="Calibri" pitchFamily="34" charset="0"/>
                <a:ea typeface="Calibri" pitchFamily="34" charset="-122"/>
                <a:cs typeface="Calibri" pitchFamily="34" charset="-120"/>
              </a:rPr>
              <a:t>What's Left — Remaining Work</a:t>
            </a:r>
            <a:endParaRPr lang="en-US" sz="3000" dirty="0"/>
          </a:p>
        </p:txBody>
      </p:sp>
      <p:sp>
        <p:nvSpPr>
          <p:cNvPr id="3" name="Shape 1"/>
          <p:cNvSpPr/>
          <p:nvPr/>
        </p:nvSpPr>
        <p:spPr>
          <a:xfrm>
            <a:off x="658368" y="1024128"/>
            <a:ext cx="914400" cy="64008"/>
          </a:xfrm>
          <a:prstGeom prst="rect">
            <a:avLst/>
          </a:prstGeom>
          <a:solidFill>
            <a:srgbClr val="38BDF8"/>
          </a:solidFill>
          <a:ln/>
        </p:spPr>
      </p:sp>
      <p:sp>
        <p:nvSpPr>
          <p:cNvPr id="4" name="Shape 2"/>
          <p:cNvSpPr/>
          <p:nvPr/>
        </p:nvSpPr>
        <p:spPr>
          <a:xfrm>
            <a:off x="9326880" y="475488"/>
            <a:ext cx="2240280" cy="475488"/>
          </a:xfrm>
          <a:prstGeom prst="roundRect">
            <a:avLst>
              <a:gd name="adj" fmla="val 50000"/>
            </a:avLst>
          </a:prstGeom>
          <a:solidFill>
            <a:srgbClr val="EAF4FC"/>
          </a:solidFill>
          <a:ln w="15875">
            <a:solidFill>
              <a:srgbClr val="38BDF8"/>
            </a:solidFill>
            <a:prstDash val="solid"/>
          </a:ln>
        </p:spPr>
      </p:sp>
      <p:sp>
        <p:nvSpPr>
          <p:cNvPr id="5" name="Text 3"/>
          <p:cNvSpPr/>
          <p:nvPr/>
        </p:nvSpPr>
        <p:spPr>
          <a:xfrm>
            <a:off x="9326880" y="475488"/>
            <a:ext cx="2240280" cy="475488"/>
          </a:xfrm>
          <a:prstGeom prst="rect">
            <a:avLst/>
          </a:prstGeom>
          <a:noFill/>
          <a:ln/>
        </p:spPr>
        <p:txBody>
          <a:bodyPr wrap="square" rtlCol="0" anchor="ctr"/>
          <a:lstStyle/>
          <a:p>
            <a:pPr algn="ctr" indent="0" marL="0">
              <a:buNone/>
            </a:pPr>
            <a:r>
              <a:rPr lang="en-US" sz="1250" b="1" dirty="0">
                <a:solidFill>
                  <a:srgbClr val="0369A1"/>
                </a:solidFill>
                <a:latin typeface="Calibri" pitchFamily="34" charset="0"/>
                <a:ea typeface="Calibri" pitchFamily="34" charset="-122"/>
                <a:cs typeface="Calibri" pitchFamily="34" charset="-120"/>
              </a:rPr>
              <a:t>IN PROGRESS</a:t>
            </a:r>
            <a:endParaRPr lang="en-US" sz="1250" dirty="0"/>
          </a:p>
        </p:txBody>
      </p:sp>
      <p:sp>
        <p:nvSpPr>
          <p:cNvPr id="6" name="Shape 4"/>
          <p:cNvSpPr/>
          <p:nvPr/>
        </p:nvSpPr>
        <p:spPr>
          <a:xfrm>
            <a:off x="640080" y="1417320"/>
            <a:ext cx="5349240" cy="1508760"/>
          </a:xfrm>
          <a:prstGeom prst="roundRect">
            <a:avLst>
              <a:gd name="adj" fmla="val 5455"/>
            </a:avLst>
          </a:prstGeom>
          <a:solidFill>
            <a:srgbClr val="EAF4FC"/>
          </a:solidFill>
          <a:ln w="15875">
            <a:solidFill>
              <a:srgbClr val="CFE6F7"/>
            </a:solidFill>
            <a:prstDash val="solid"/>
          </a:ln>
        </p:spPr>
      </p:sp>
      <p:sp>
        <p:nvSpPr>
          <p:cNvPr id="7" name="Shape 5"/>
          <p:cNvSpPr/>
          <p:nvPr/>
        </p:nvSpPr>
        <p:spPr>
          <a:xfrm>
            <a:off x="640080" y="1417320"/>
            <a:ext cx="82296" cy="1508760"/>
          </a:xfrm>
          <a:prstGeom prst="rect">
            <a:avLst/>
          </a:prstGeom>
          <a:solidFill>
            <a:srgbClr val="38BDF8"/>
          </a:solidFill>
          <a:ln/>
        </p:spPr>
      </p:sp>
      <p:sp>
        <p:nvSpPr>
          <p:cNvPr id="8" name="Text 6"/>
          <p:cNvSpPr/>
          <p:nvPr/>
        </p:nvSpPr>
        <p:spPr>
          <a:xfrm>
            <a:off x="932688" y="1581912"/>
            <a:ext cx="429768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Analytics &amp; Trend Reporting</a:t>
            </a:r>
            <a:endParaRPr lang="en-US" sz="1550" dirty="0"/>
          </a:p>
        </p:txBody>
      </p:sp>
      <p:sp>
        <p:nvSpPr>
          <p:cNvPr id="9" name="Shape 7"/>
          <p:cNvSpPr/>
          <p:nvPr/>
        </p:nvSpPr>
        <p:spPr>
          <a:xfrm>
            <a:off x="5120640" y="1581912"/>
            <a:ext cx="621792" cy="329184"/>
          </a:xfrm>
          <a:prstGeom prst="roundRect">
            <a:avLst>
              <a:gd name="adj" fmla="val 50000"/>
            </a:avLst>
          </a:prstGeom>
          <a:solidFill>
            <a:srgbClr val="FFFFFF"/>
          </a:solidFill>
          <a:ln w="15875">
            <a:solidFill>
              <a:srgbClr val="0369A1"/>
            </a:solidFill>
            <a:prstDash val="solid"/>
          </a:ln>
        </p:spPr>
      </p:sp>
      <p:sp>
        <p:nvSpPr>
          <p:cNvPr id="10" name="Text 8"/>
          <p:cNvSpPr/>
          <p:nvPr/>
        </p:nvSpPr>
        <p:spPr>
          <a:xfrm>
            <a:off x="5120640" y="1581912"/>
            <a:ext cx="621792" cy="329184"/>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40%</a:t>
            </a:r>
            <a:endParaRPr lang="en-US" sz="1200" dirty="0"/>
          </a:p>
        </p:txBody>
      </p:sp>
      <p:sp>
        <p:nvSpPr>
          <p:cNvPr id="11" name="Text 9"/>
          <p:cNvSpPr/>
          <p:nvPr/>
        </p:nvSpPr>
        <p:spPr>
          <a:xfrm>
            <a:off x="932688" y="198424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Charts for complaint trends and category/priority breakdowns are partially built; drilldowns still pending.</a:t>
            </a:r>
            <a:endParaRPr lang="en-US" sz="1250" dirty="0"/>
          </a:p>
        </p:txBody>
      </p:sp>
      <p:sp>
        <p:nvSpPr>
          <p:cNvPr id="12" name="Shape 10"/>
          <p:cNvSpPr/>
          <p:nvPr/>
        </p:nvSpPr>
        <p:spPr>
          <a:xfrm>
            <a:off x="6263640" y="1417320"/>
            <a:ext cx="5349240" cy="1508760"/>
          </a:xfrm>
          <a:prstGeom prst="roundRect">
            <a:avLst>
              <a:gd name="adj" fmla="val 5455"/>
            </a:avLst>
          </a:prstGeom>
          <a:solidFill>
            <a:srgbClr val="EAF4FC"/>
          </a:solidFill>
          <a:ln w="15875">
            <a:solidFill>
              <a:srgbClr val="CFE6F7"/>
            </a:solidFill>
            <a:prstDash val="solid"/>
          </a:ln>
        </p:spPr>
      </p:sp>
      <p:sp>
        <p:nvSpPr>
          <p:cNvPr id="13" name="Shape 11"/>
          <p:cNvSpPr/>
          <p:nvPr/>
        </p:nvSpPr>
        <p:spPr>
          <a:xfrm>
            <a:off x="6263640" y="1417320"/>
            <a:ext cx="82296" cy="1508760"/>
          </a:xfrm>
          <a:prstGeom prst="rect">
            <a:avLst/>
          </a:prstGeom>
          <a:solidFill>
            <a:srgbClr val="38BDF8"/>
          </a:solidFill>
          <a:ln/>
        </p:spPr>
      </p:sp>
      <p:sp>
        <p:nvSpPr>
          <p:cNvPr id="14" name="Text 12"/>
          <p:cNvSpPr/>
          <p:nvPr/>
        </p:nvSpPr>
        <p:spPr>
          <a:xfrm>
            <a:off x="6556248" y="1581912"/>
            <a:ext cx="429768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SLA Automation</a:t>
            </a:r>
            <a:endParaRPr lang="en-US" sz="1550" dirty="0"/>
          </a:p>
        </p:txBody>
      </p:sp>
      <p:sp>
        <p:nvSpPr>
          <p:cNvPr id="15" name="Shape 13"/>
          <p:cNvSpPr/>
          <p:nvPr/>
        </p:nvSpPr>
        <p:spPr>
          <a:xfrm>
            <a:off x="10744200" y="1581912"/>
            <a:ext cx="621792" cy="329184"/>
          </a:xfrm>
          <a:prstGeom prst="roundRect">
            <a:avLst>
              <a:gd name="adj" fmla="val 50000"/>
            </a:avLst>
          </a:prstGeom>
          <a:solidFill>
            <a:srgbClr val="FFFFFF"/>
          </a:solidFill>
          <a:ln w="15875">
            <a:solidFill>
              <a:srgbClr val="0369A1"/>
            </a:solidFill>
            <a:prstDash val="solid"/>
          </a:ln>
        </p:spPr>
      </p:sp>
      <p:sp>
        <p:nvSpPr>
          <p:cNvPr id="16" name="Text 14"/>
          <p:cNvSpPr/>
          <p:nvPr/>
        </p:nvSpPr>
        <p:spPr>
          <a:xfrm>
            <a:off x="10744200" y="1581912"/>
            <a:ext cx="621792" cy="329184"/>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45%</a:t>
            </a:r>
            <a:endParaRPr lang="en-US" sz="1200" dirty="0"/>
          </a:p>
        </p:txBody>
      </p:sp>
      <p:sp>
        <p:nvSpPr>
          <p:cNvPr id="17" name="Text 15"/>
          <p:cNvSpPr/>
          <p:nvPr/>
        </p:nvSpPr>
        <p:spPr>
          <a:xfrm>
            <a:off x="6556248" y="198424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SLA rule configuration exists in the data model; automated breach detection and alerts are not yet wired up.</a:t>
            </a:r>
            <a:endParaRPr lang="en-US" sz="1250" dirty="0"/>
          </a:p>
        </p:txBody>
      </p:sp>
      <p:sp>
        <p:nvSpPr>
          <p:cNvPr id="18" name="Shape 16"/>
          <p:cNvSpPr/>
          <p:nvPr/>
        </p:nvSpPr>
        <p:spPr>
          <a:xfrm>
            <a:off x="640080" y="3108960"/>
            <a:ext cx="5349240" cy="1508760"/>
          </a:xfrm>
          <a:prstGeom prst="roundRect">
            <a:avLst>
              <a:gd name="adj" fmla="val 5455"/>
            </a:avLst>
          </a:prstGeom>
          <a:solidFill>
            <a:srgbClr val="EAF4FC"/>
          </a:solidFill>
          <a:ln w="15875">
            <a:solidFill>
              <a:srgbClr val="CFE6F7"/>
            </a:solidFill>
            <a:prstDash val="solid"/>
          </a:ln>
        </p:spPr>
      </p:sp>
      <p:sp>
        <p:nvSpPr>
          <p:cNvPr id="19" name="Shape 17"/>
          <p:cNvSpPr/>
          <p:nvPr/>
        </p:nvSpPr>
        <p:spPr>
          <a:xfrm>
            <a:off x="640080" y="3108960"/>
            <a:ext cx="82296" cy="1508760"/>
          </a:xfrm>
          <a:prstGeom prst="rect">
            <a:avLst/>
          </a:prstGeom>
          <a:solidFill>
            <a:srgbClr val="38BDF8"/>
          </a:solidFill>
          <a:ln/>
        </p:spPr>
      </p:sp>
      <p:sp>
        <p:nvSpPr>
          <p:cNvPr id="20" name="Text 18"/>
          <p:cNvSpPr/>
          <p:nvPr/>
        </p:nvSpPr>
        <p:spPr>
          <a:xfrm>
            <a:off x="932688" y="3273552"/>
            <a:ext cx="429768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QA Feedback Review</a:t>
            </a:r>
            <a:endParaRPr lang="en-US" sz="1550" dirty="0"/>
          </a:p>
        </p:txBody>
      </p:sp>
      <p:sp>
        <p:nvSpPr>
          <p:cNvPr id="21" name="Shape 19"/>
          <p:cNvSpPr/>
          <p:nvPr/>
        </p:nvSpPr>
        <p:spPr>
          <a:xfrm>
            <a:off x="5120640" y="3273552"/>
            <a:ext cx="621792" cy="329184"/>
          </a:xfrm>
          <a:prstGeom prst="roundRect">
            <a:avLst>
              <a:gd name="adj" fmla="val 50000"/>
            </a:avLst>
          </a:prstGeom>
          <a:solidFill>
            <a:srgbClr val="FFFFFF"/>
          </a:solidFill>
          <a:ln w="15875">
            <a:solidFill>
              <a:srgbClr val="0369A1"/>
            </a:solidFill>
            <a:prstDash val="solid"/>
          </a:ln>
        </p:spPr>
      </p:sp>
      <p:sp>
        <p:nvSpPr>
          <p:cNvPr id="22" name="Text 20"/>
          <p:cNvSpPr/>
          <p:nvPr/>
        </p:nvSpPr>
        <p:spPr>
          <a:xfrm>
            <a:off x="5120640" y="3273552"/>
            <a:ext cx="621792" cy="329184"/>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30%</a:t>
            </a:r>
            <a:endParaRPr lang="en-US" sz="1200" dirty="0"/>
          </a:p>
        </p:txBody>
      </p:sp>
      <p:sp>
        <p:nvSpPr>
          <p:cNvPr id="23" name="Text 21"/>
          <p:cNvSpPr/>
          <p:nvPr/>
        </p:nvSpPr>
        <p:spPr>
          <a:xfrm>
            <a:off x="932688" y="367588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QA feedback listing page is scaffolded; scoring workflow and resolution-quality review are not implemented.</a:t>
            </a:r>
            <a:endParaRPr lang="en-US" sz="1250" dirty="0"/>
          </a:p>
        </p:txBody>
      </p:sp>
      <p:sp>
        <p:nvSpPr>
          <p:cNvPr id="24" name="Shape 22"/>
          <p:cNvSpPr/>
          <p:nvPr/>
        </p:nvSpPr>
        <p:spPr>
          <a:xfrm>
            <a:off x="6263640" y="3108960"/>
            <a:ext cx="5349240" cy="1508760"/>
          </a:xfrm>
          <a:prstGeom prst="roundRect">
            <a:avLst>
              <a:gd name="adj" fmla="val 5455"/>
            </a:avLst>
          </a:prstGeom>
          <a:solidFill>
            <a:srgbClr val="EAF4FC"/>
          </a:solidFill>
          <a:ln w="15875">
            <a:solidFill>
              <a:srgbClr val="CFE6F7"/>
            </a:solidFill>
            <a:prstDash val="solid"/>
          </a:ln>
        </p:spPr>
      </p:sp>
      <p:sp>
        <p:nvSpPr>
          <p:cNvPr id="25" name="Shape 23"/>
          <p:cNvSpPr/>
          <p:nvPr/>
        </p:nvSpPr>
        <p:spPr>
          <a:xfrm>
            <a:off x="6263640" y="3108960"/>
            <a:ext cx="82296" cy="1508760"/>
          </a:xfrm>
          <a:prstGeom prst="rect">
            <a:avLst/>
          </a:prstGeom>
          <a:solidFill>
            <a:srgbClr val="38BDF8"/>
          </a:solidFill>
          <a:ln/>
        </p:spPr>
      </p:sp>
      <p:sp>
        <p:nvSpPr>
          <p:cNvPr id="26" name="Text 24"/>
          <p:cNvSpPr/>
          <p:nvPr/>
        </p:nvSpPr>
        <p:spPr>
          <a:xfrm>
            <a:off x="6556248" y="3273552"/>
            <a:ext cx="429768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Admin Configuration Suite</a:t>
            </a:r>
            <a:endParaRPr lang="en-US" sz="1550" dirty="0"/>
          </a:p>
        </p:txBody>
      </p:sp>
      <p:sp>
        <p:nvSpPr>
          <p:cNvPr id="27" name="Shape 25"/>
          <p:cNvSpPr/>
          <p:nvPr/>
        </p:nvSpPr>
        <p:spPr>
          <a:xfrm>
            <a:off x="10744200" y="3273552"/>
            <a:ext cx="621792" cy="329184"/>
          </a:xfrm>
          <a:prstGeom prst="roundRect">
            <a:avLst>
              <a:gd name="adj" fmla="val 50000"/>
            </a:avLst>
          </a:prstGeom>
          <a:solidFill>
            <a:srgbClr val="FFFFFF"/>
          </a:solidFill>
          <a:ln w="15875">
            <a:solidFill>
              <a:srgbClr val="0369A1"/>
            </a:solidFill>
            <a:prstDash val="solid"/>
          </a:ln>
        </p:spPr>
      </p:sp>
      <p:sp>
        <p:nvSpPr>
          <p:cNvPr id="28" name="Text 26"/>
          <p:cNvSpPr/>
          <p:nvPr/>
        </p:nvSpPr>
        <p:spPr>
          <a:xfrm>
            <a:off x="10744200" y="3273552"/>
            <a:ext cx="621792" cy="329184"/>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50%</a:t>
            </a:r>
            <a:endParaRPr lang="en-US" sz="1200" dirty="0"/>
          </a:p>
        </p:txBody>
      </p:sp>
      <p:sp>
        <p:nvSpPr>
          <p:cNvPr id="29" name="Text 27"/>
          <p:cNvSpPr/>
          <p:nvPr/>
        </p:nvSpPr>
        <p:spPr>
          <a:xfrm>
            <a:off x="6556248" y="367588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Offices, categories, and routing-rule screens exist but validation, bulk actions, and audit views need work.</a:t>
            </a:r>
            <a:endParaRPr lang="en-US" sz="1250" dirty="0"/>
          </a:p>
        </p:txBody>
      </p:sp>
      <p:sp>
        <p:nvSpPr>
          <p:cNvPr id="30" name="Shape 28"/>
          <p:cNvSpPr/>
          <p:nvPr/>
        </p:nvSpPr>
        <p:spPr>
          <a:xfrm>
            <a:off x="640080" y="4800600"/>
            <a:ext cx="5349240" cy="1508760"/>
          </a:xfrm>
          <a:prstGeom prst="roundRect">
            <a:avLst>
              <a:gd name="adj" fmla="val 5455"/>
            </a:avLst>
          </a:prstGeom>
          <a:solidFill>
            <a:srgbClr val="EAF4FC"/>
          </a:solidFill>
          <a:ln w="15875">
            <a:solidFill>
              <a:srgbClr val="CFE6F7"/>
            </a:solidFill>
            <a:prstDash val="solid"/>
          </a:ln>
        </p:spPr>
      </p:sp>
      <p:sp>
        <p:nvSpPr>
          <p:cNvPr id="31" name="Shape 29"/>
          <p:cNvSpPr/>
          <p:nvPr/>
        </p:nvSpPr>
        <p:spPr>
          <a:xfrm>
            <a:off x="640080" y="4800600"/>
            <a:ext cx="82296" cy="1508760"/>
          </a:xfrm>
          <a:prstGeom prst="rect">
            <a:avLst/>
          </a:prstGeom>
          <a:solidFill>
            <a:srgbClr val="38BDF8"/>
          </a:solidFill>
          <a:ln/>
        </p:spPr>
      </p:sp>
      <p:sp>
        <p:nvSpPr>
          <p:cNvPr id="32" name="Text 30"/>
          <p:cNvSpPr/>
          <p:nvPr/>
        </p:nvSpPr>
        <p:spPr>
          <a:xfrm>
            <a:off x="932688" y="4965192"/>
            <a:ext cx="429768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Notifications &amp; Email</a:t>
            </a:r>
            <a:endParaRPr lang="en-US" sz="1550" dirty="0"/>
          </a:p>
        </p:txBody>
      </p:sp>
      <p:sp>
        <p:nvSpPr>
          <p:cNvPr id="33" name="Shape 31"/>
          <p:cNvSpPr/>
          <p:nvPr/>
        </p:nvSpPr>
        <p:spPr>
          <a:xfrm>
            <a:off x="5120640" y="4965192"/>
            <a:ext cx="621792" cy="329184"/>
          </a:xfrm>
          <a:prstGeom prst="roundRect">
            <a:avLst>
              <a:gd name="adj" fmla="val 50000"/>
            </a:avLst>
          </a:prstGeom>
          <a:solidFill>
            <a:srgbClr val="FFFFFF"/>
          </a:solidFill>
          <a:ln w="15875">
            <a:solidFill>
              <a:srgbClr val="0369A1"/>
            </a:solidFill>
            <a:prstDash val="solid"/>
          </a:ln>
        </p:spPr>
      </p:sp>
      <p:sp>
        <p:nvSpPr>
          <p:cNvPr id="34" name="Text 32"/>
          <p:cNvSpPr/>
          <p:nvPr/>
        </p:nvSpPr>
        <p:spPr>
          <a:xfrm>
            <a:off x="5120640" y="4965192"/>
            <a:ext cx="621792" cy="329184"/>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40%</a:t>
            </a:r>
            <a:endParaRPr lang="en-US" sz="1200" dirty="0"/>
          </a:p>
        </p:txBody>
      </p:sp>
      <p:sp>
        <p:nvSpPr>
          <p:cNvPr id="35" name="Text 33"/>
          <p:cNvSpPr/>
          <p:nvPr/>
        </p:nvSpPr>
        <p:spPr>
          <a:xfrm>
            <a:off x="932688" y="536752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In-app notification panel is live; transactional email delivery and digesting are still being integrated.</a:t>
            </a:r>
            <a:endParaRPr lang="en-US" sz="1250" dirty="0"/>
          </a:p>
        </p:txBody>
      </p:sp>
      <p:sp>
        <p:nvSpPr>
          <p:cNvPr id="36" name="Shape 34"/>
          <p:cNvSpPr/>
          <p:nvPr/>
        </p:nvSpPr>
        <p:spPr>
          <a:xfrm>
            <a:off x="6263640" y="4800600"/>
            <a:ext cx="5349240" cy="1508760"/>
          </a:xfrm>
          <a:prstGeom prst="roundRect">
            <a:avLst>
              <a:gd name="adj" fmla="val 5455"/>
            </a:avLst>
          </a:prstGeom>
          <a:solidFill>
            <a:srgbClr val="EAF4FC"/>
          </a:solidFill>
          <a:ln w="15875">
            <a:solidFill>
              <a:srgbClr val="CFE6F7"/>
            </a:solidFill>
            <a:prstDash val="solid"/>
          </a:ln>
        </p:spPr>
      </p:sp>
      <p:sp>
        <p:nvSpPr>
          <p:cNvPr id="37" name="Shape 35"/>
          <p:cNvSpPr/>
          <p:nvPr/>
        </p:nvSpPr>
        <p:spPr>
          <a:xfrm>
            <a:off x="6263640" y="4800600"/>
            <a:ext cx="82296" cy="1508760"/>
          </a:xfrm>
          <a:prstGeom prst="rect">
            <a:avLst/>
          </a:prstGeom>
          <a:solidFill>
            <a:srgbClr val="38BDF8"/>
          </a:solidFill>
          <a:ln/>
        </p:spPr>
      </p:sp>
      <p:sp>
        <p:nvSpPr>
          <p:cNvPr id="38" name="Text 36"/>
          <p:cNvSpPr/>
          <p:nvPr/>
        </p:nvSpPr>
        <p:spPr>
          <a:xfrm>
            <a:off x="6556248" y="4965192"/>
            <a:ext cx="4297680" cy="411480"/>
          </a:xfrm>
          <a:prstGeom prst="rect">
            <a:avLst/>
          </a:prstGeom>
          <a:noFill/>
          <a:ln/>
        </p:spPr>
        <p:txBody>
          <a:bodyPr wrap="square" rtlCol="0" anchor="ctr"/>
          <a:lstStyle/>
          <a:p>
            <a:pPr indent="0" marL="0">
              <a:buNone/>
            </a:pPr>
            <a:r>
              <a:rPr lang="en-US" sz="1550" b="1" dirty="0">
                <a:solidFill>
                  <a:srgbClr val="0B3D91"/>
                </a:solidFill>
                <a:latin typeface="Calibri" pitchFamily="34" charset="0"/>
                <a:ea typeface="Calibri" pitchFamily="34" charset="-122"/>
                <a:cs typeface="Calibri" pitchFamily="34" charset="-120"/>
              </a:rPr>
              <a:t>Testing, Docs &amp; Deployment</a:t>
            </a:r>
            <a:endParaRPr lang="en-US" sz="1550" dirty="0"/>
          </a:p>
        </p:txBody>
      </p:sp>
      <p:sp>
        <p:nvSpPr>
          <p:cNvPr id="39" name="Shape 37"/>
          <p:cNvSpPr/>
          <p:nvPr/>
        </p:nvSpPr>
        <p:spPr>
          <a:xfrm>
            <a:off x="10744200" y="4965192"/>
            <a:ext cx="621792" cy="329184"/>
          </a:xfrm>
          <a:prstGeom prst="roundRect">
            <a:avLst>
              <a:gd name="adj" fmla="val 50000"/>
            </a:avLst>
          </a:prstGeom>
          <a:solidFill>
            <a:srgbClr val="FFFFFF"/>
          </a:solidFill>
          <a:ln w="15875">
            <a:solidFill>
              <a:srgbClr val="0369A1"/>
            </a:solidFill>
            <a:prstDash val="solid"/>
          </a:ln>
        </p:spPr>
      </p:sp>
      <p:sp>
        <p:nvSpPr>
          <p:cNvPr id="40" name="Text 38"/>
          <p:cNvSpPr/>
          <p:nvPr/>
        </p:nvSpPr>
        <p:spPr>
          <a:xfrm>
            <a:off x="10744200" y="4965192"/>
            <a:ext cx="621792" cy="329184"/>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25%</a:t>
            </a:r>
            <a:endParaRPr lang="en-US" sz="1200" dirty="0"/>
          </a:p>
        </p:txBody>
      </p:sp>
      <p:sp>
        <p:nvSpPr>
          <p:cNvPr id="41" name="Text 39"/>
          <p:cNvSpPr/>
          <p:nvPr/>
        </p:nvSpPr>
        <p:spPr>
          <a:xfrm>
            <a:off x="6556248" y="5367528"/>
            <a:ext cx="4800600" cy="868680"/>
          </a:xfrm>
          <a:prstGeom prst="rect">
            <a:avLst/>
          </a:prstGeom>
          <a:noFill/>
          <a:ln/>
        </p:spPr>
        <p:txBody>
          <a:bodyPr wrap="square" rtlCol="0" anchor="ctr"/>
          <a:lstStyle/>
          <a:p>
            <a:pPr indent="0" marL="0">
              <a:lnSpc>
                <a:spcPct val="125000"/>
              </a:lnSpc>
              <a:buNone/>
            </a:pPr>
            <a:r>
              <a:rPr lang="en-US" sz="1250" dirty="0">
                <a:solidFill>
                  <a:srgbClr val="1E3A5F"/>
                </a:solidFill>
                <a:latin typeface="Calibri" pitchFamily="34" charset="0"/>
                <a:ea typeface="Calibri" pitchFamily="34" charset="-122"/>
                <a:cs typeface="Calibri" pitchFamily="34" charset="-120"/>
              </a:rPr>
              <a:t>Integration tests cover core flows only; production hardening and a deployment runbook remain.</a:t>
            </a:r>
            <a:endParaRPr lang="en-US" sz="1250" dirty="0"/>
          </a:p>
        </p:txBody>
      </p:sp>
      <p:sp>
        <p:nvSpPr>
          <p:cNvPr id="42" name="Text 40"/>
          <p:cNvSpPr/>
          <p:nvPr/>
        </p:nvSpPr>
        <p:spPr>
          <a:xfrm>
            <a:off x="457200" y="6492240"/>
            <a:ext cx="7315200" cy="274320"/>
          </a:xfrm>
          <a:prstGeom prst="rect">
            <a:avLst/>
          </a:prstGeom>
          <a:noFill/>
          <a:ln/>
        </p:spPr>
        <p:txBody>
          <a:bodyPr wrap="square" rtlCol="0" anchor="ctr"/>
          <a:lstStyle/>
          <a:p>
            <a:pPr indent="0" marL="0">
              <a:buNone/>
            </a:pPr>
            <a:r>
              <a:rPr lang="en-US" sz="1100" dirty="0">
                <a:solidFill>
                  <a:srgbClr val="5B7B99"/>
                </a:solidFill>
                <a:latin typeface="Calibri" pitchFamily="34" charset="0"/>
                <a:ea typeface="Calibri" pitchFamily="34" charset="-122"/>
                <a:cs typeface="Calibri" pitchFamily="34" charset="-120"/>
              </a:rPr>
              <a:t>ParSU e-Feedback System  |  Development Progress Report</a:t>
            </a:r>
            <a:endParaRPr lang="en-US" sz="1100" dirty="0"/>
          </a:p>
        </p:txBody>
      </p:sp>
      <p:sp>
        <p:nvSpPr>
          <p:cNvPr id="43" name="Text 41"/>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5B7B99"/>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3000" b="1" dirty="0">
                <a:solidFill>
                  <a:srgbClr val="0B3D91"/>
                </a:solidFill>
                <a:latin typeface="Calibri" pitchFamily="34" charset="0"/>
                <a:ea typeface="Calibri" pitchFamily="34" charset="-122"/>
                <a:cs typeface="Calibri" pitchFamily="34" charset="-120"/>
              </a:rPr>
              <a:t>Technical Foundation</a:t>
            </a:r>
            <a:endParaRPr lang="en-US" sz="3000" dirty="0"/>
          </a:p>
        </p:txBody>
      </p:sp>
      <p:sp>
        <p:nvSpPr>
          <p:cNvPr id="3" name="Shape 1"/>
          <p:cNvSpPr/>
          <p:nvPr/>
        </p:nvSpPr>
        <p:spPr>
          <a:xfrm>
            <a:off x="658368" y="1024128"/>
            <a:ext cx="914400" cy="64008"/>
          </a:xfrm>
          <a:prstGeom prst="rect">
            <a:avLst/>
          </a:prstGeom>
          <a:solidFill>
            <a:srgbClr val="0284C7"/>
          </a:solidFill>
          <a:ln/>
        </p:spPr>
      </p:sp>
      <p:sp>
        <p:nvSpPr>
          <p:cNvPr id="4" name="Text 2"/>
          <p:cNvSpPr/>
          <p:nvPr/>
        </p:nvSpPr>
        <p:spPr>
          <a:xfrm>
            <a:off x="640080" y="1280160"/>
            <a:ext cx="5029200" cy="292608"/>
          </a:xfrm>
          <a:prstGeom prst="rect">
            <a:avLst/>
          </a:prstGeom>
          <a:noFill/>
          <a:ln/>
        </p:spPr>
        <p:txBody>
          <a:bodyPr wrap="square" rtlCol="0" anchor="ctr"/>
          <a:lstStyle/>
          <a:p>
            <a:pPr indent="0" marL="0">
              <a:buNone/>
            </a:pPr>
            <a:r>
              <a:rPr lang="en-US" sz="1350" b="1" spc="120" kern="0" dirty="0">
                <a:solidFill>
                  <a:srgbClr val="5B7B99"/>
                </a:solidFill>
                <a:latin typeface="Calibri" pitchFamily="34" charset="0"/>
                <a:ea typeface="Calibri" pitchFamily="34" charset="-122"/>
                <a:cs typeface="Calibri" pitchFamily="34" charset="-120"/>
              </a:rPr>
              <a:t>TECH STACK</a:t>
            </a:r>
            <a:endParaRPr lang="en-US" sz="1350" dirty="0"/>
          </a:p>
        </p:txBody>
      </p:sp>
      <p:sp>
        <p:nvSpPr>
          <p:cNvPr id="5" name="Text 3"/>
          <p:cNvSpPr/>
          <p:nvPr/>
        </p:nvSpPr>
        <p:spPr>
          <a:xfrm>
            <a:off x="640080" y="1691640"/>
            <a:ext cx="274320" cy="411480"/>
          </a:xfrm>
          <a:prstGeom prst="rect">
            <a:avLst/>
          </a:prstGeom>
          <a:noFill/>
          <a:ln/>
        </p:spPr>
        <p:txBody>
          <a:bodyPr wrap="square" rtlCol="0" anchor="ctr"/>
          <a:lstStyle/>
          <a:p>
            <a:pPr indent="0" marL="0">
              <a:buNone/>
            </a:pPr>
            <a:r>
              <a:rPr lang="en-US" sz="1500" b="1" dirty="0">
                <a:solidFill>
                  <a:srgbClr val="0284C7"/>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914400" y="1691640"/>
            <a:ext cx="4937760" cy="50292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Frontend:  </a:t>
            </a:r>
            <a:pPr indent="0" marL="0">
              <a:buNone/>
            </a:pPr>
            <a:r>
              <a:rPr lang="en-US" sz="1400" dirty="0">
                <a:solidFill>
                  <a:srgbClr val="1E3A5F"/>
                </a:solidFill>
                <a:latin typeface="Calibri" pitchFamily="34" charset="0"/>
                <a:ea typeface="Calibri" pitchFamily="34" charset="-122"/>
                <a:cs typeface="Calibri" pitchFamily="34" charset="-120"/>
              </a:rPr>
              <a:t>Next.js (App Router), React, Tailwind CSS</a:t>
            </a:r>
            <a:endParaRPr lang="en-US" sz="1400" dirty="0"/>
          </a:p>
        </p:txBody>
      </p:sp>
      <p:sp>
        <p:nvSpPr>
          <p:cNvPr id="7" name="Text 5"/>
          <p:cNvSpPr/>
          <p:nvPr/>
        </p:nvSpPr>
        <p:spPr>
          <a:xfrm>
            <a:off x="640080" y="2295144"/>
            <a:ext cx="274320" cy="411480"/>
          </a:xfrm>
          <a:prstGeom prst="rect">
            <a:avLst/>
          </a:prstGeom>
          <a:noFill/>
          <a:ln/>
        </p:spPr>
        <p:txBody>
          <a:bodyPr wrap="square" rtlCol="0" anchor="ctr"/>
          <a:lstStyle/>
          <a:p>
            <a:pPr indent="0" marL="0">
              <a:buNone/>
            </a:pPr>
            <a:r>
              <a:rPr lang="en-US" sz="1500" b="1" dirty="0">
                <a:solidFill>
                  <a:srgbClr val="0284C7"/>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914400" y="2295144"/>
            <a:ext cx="4937760" cy="50292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Backend:  </a:t>
            </a:r>
            <a:pPr indent="0" marL="0">
              <a:buNone/>
            </a:pPr>
            <a:r>
              <a:rPr lang="en-US" sz="1400" dirty="0">
                <a:solidFill>
                  <a:srgbClr val="1E3A5F"/>
                </a:solidFill>
                <a:latin typeface="Calibri" pitchFamily="34" charset="0"/>
                <a:ea typeface="Calibri" pitchFamily="34" charset="-122"/>
                <a:cs typeface="Calibri" pitchFamily="34" charset="-120"/>
              </a:rPr>
              <a:t>Next.js API routes, server-side services layer</a:t>
            </a:r>
            <a:endParaRPr lang="en-US" sz="1400" dirty="0"/>
          </a:p>
        </p:txBody>
      </p:sp>
      <p:sp>
        <p:nvSpPr>
          <p:cNvPr id="9" name="Text 7"/>
          <p:cNvSpPr/>
          <p:nvPr/>
        </p:nvSpPr>
        <p:spPr>
          <a:xfrm>
            <a:off x="640080" y="2898648"/>
            <a:ext cx="274320" cy="411480"/>
          </a:xfrm>
          <a:prstGeom prst="rect">
            <a:avLst/>
          </a:prstGeom>
          <a:noFill/>
          <a:ln/>
        </p:spPr>
        <p:txBody>
          <a:bodyPr wrap="square" rtlCol="0" anchor="ctr"/>
          <a:lstStyle/>
          <a:p>
            <a:pPr indent="0" marL="0">
              <a:buNone/>
            </a:pPr>
            <a:r>
              <a:rPr lang="en-US" sz="1500" b="1" dirty="0">
                <a:solidFill>
                  <a:srgbClr val="0284C7"/>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914400" y="2898648"/>
            <a:ext cx="4937760" cy="50292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Database:  </a:t>
            </a:r>
            <a:pPr indent="0" marL="0">
              <a:buNone/>
            </a:pPr>
            <a:r>
              <a:rPr lang="en-US" sz="1400" dirty="0">
                <a:solidFill>
                  <a:srgbClr val="1E3A5F"/>
                </a:solidFill>
                <a:latin typeface="Calibri" pitchFamily="34" charset="0"/>
                <a:ea typeface="Calibri" pitchFamily="34" charset="-122"/>
                <a:cs typeface="Calibri" pitchFamily="34" charset="-120"/>
              </a:rPr>
              <a:t>MongoDB with Mongoose data models</a:t>
            </a:r>
            <a:endParaRPr lang="en-US" sz="1400" dirty="0"/>
          </a:p>
        </p:txBody>
      </p:sp>
      <p:sp>
        <p:nvSpPr>
          <p:cNvPr id="11" name="Text 9"/>
          <p:cNvSpPr/>
          <p:nvPr/>
        </p:nvSpPr>
        <p:spPr>
          <a:xfrm>
            <a:off x="640080" y="3502152"/>
            <a:ext cx="274320" cy="411480"/>
          </a:xfrm>
          <a:prstGeom prst="rect">
            <a:avLst/>
          </a:prstGeom>
          <a:noFill/>
          <a:ln/>
        </p:spPr>
        <p:txBody>
          <a:bodyPr wrap="square" rtlCol="0" anchor="ctr"/>
          <a:lstStyle/>
          <a:p>
            <a:pPr indent="0" marL="0">
              <a:buNone/>
            </a:pPr>
            <a:r>
              <a:rPr lang="en-US" sz="1500" b="1" dirty="0">
                <a:solidFill>
                  <a:srgbClr val="0284C7"/>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914400" y="3502152"/>
            <a:ext cx="4937760" cy="50292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Auth:  </a:t>
            </a:r>
            <a:pPr indent="0" marL="0">
              <a:buNone/>
            </a:pPr>
            <a:r>
              <a:rPr lang="en-US" sz="1400" dirty="0">
                <a:solidFill>
                  <a:srgbClr val="1E3A5F"/>
                </a:solidFill>
                <a:latin typeface="Calibri" pitchFamily="34" charset="0"/>
                <a:ea typeface="Calibri" pitchFamily="34" charset="-122"/>
                <a:cs typeface="Calibri" pitchFamily="34" charset="-120"/>
              </a:rPr>
              <a:t>Session-based auth with role-based access control</a:t>
            </a:r>
            <a:endParaRPr lang="en-US" sz="1400" dirty="0"/>
          </a:p>
        </p:txBody>
      </p:sp>
      <p:sp>
        <p:nvSpPr>
          <p:cNvPr id="13" name="Text 11"/>
          <p:cNvSpPr/>
          <p:nvPr/>
        </p:nvSpPr>
        <p:spPr>
          <a:xfrm>
            <a:off x="640080" y="4105656"/>
            <a:ext cx="274320" cy="411480"/>
          </a:xfrm>
          <a:prstGeom prst="rect">
            <a:avLst/>
          </a:prstGeom>
          <a:noFill/>
          <a:ln/>
        </p:spPr>
        <p:txBody>
          <a:bodyPr wrap="square" rtlCol="0" anchor="ctr"/>
          <a:lstStyle/>
          <a:p>
            <a:pPr indent="0" marL="0">
              <a:buNone/>
            </a:pPr>
            <a:r>
              <a:rPr lang="en-US" sz="1500" b="1" dirty="0">
                <a:solidFill>
                  <a:srgbClr val="0284C7"/>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914400" y="4105656"/>
            <a:ext cx="4937760" cy="502920"/>
          </a:xfrm>
          <a:prstGeom prst="rect">
            <a:avLst/>
          </a:prstGeom>
          <a:noFill/>
          <a:ln/>
        </p:spPr>
        <p:txBody>
          <a:bodyPr wrap="square" rtlCol="0" anchor="ctr"/>
          <a:lstStyle/>
          <a:p>
            <a:pPr indent="0" marL="0">
              <a:buNone/>
            </a:pPr>
            <a:r>
              <a:rPr lang="en-US" sz="1400" b="1" dirty="0">
                <a:solidFill>
                  <a:srgbClr val="0B3D91"/>
                </a:solidFill>
                <a:latin typeface="Calibri" pitchFamily="34" charset="0"/>
                <a:ea typeface="Calibri" pitchFamily="34" charset="-122"/>
                <a:cs typeface="Calibri" pitchFamily="34" charset="-120"/>
              </a:rPr>
              <a:t>Infra:  </a:t>
            </a:r>
            <a:pPr indent="0" marL="0">
              <a:buNone/>
            </a:pPr>
            <a:r>
              <a:rPr lang="en-US" sz="1400" dirty="0">
                <a:solidFill>
                  <a:srgbClr val="1E3A5F"/>
                </a:solidFill>
                <a:latin typeface="Calibri" pitchFamily="34" charset="0"/>
                <a:ea typeface="Calibri" pitchFamily="34" charset="-122"/>
                <a:cs typeface="Calibri" pitchFamily="34" charset="-120"/>
              </a:rPr>
              <a:t>Vercel deployment, scheduled cron for SLA checks</a:t>
            </a:r>
            <a:endParaRPr lang="en-US" sz="1400" dirty="0"/>
          </a:p>
        </p:txBody>
      </p:sp>
      <p:sp>
        <p:nvSpPr>
          <p:cNvPr id="15" name="Text 13"/>
          <p:cNvSpPr/>
          <p:nvPr/>
        </p:nvSpPr>
        <p:spPr>
          <a:xfrm>
            <a:off x="640080" y="4846320"/>
            <a:ext cx="5029200" cy="292608"/>
          </a:xfrm>
          <a:prstGeom prst="rect">
            <a:avLst/>
          </a:prstGeom>
          <a:noFill/>
          <a:ln/>
        </p:spPr>
        <p:txBody>
          <a:bodyPr wrap="square" rtlCol="0" anchor="ctr"/>
          <a:lstStyle/>
          <a:p>
            <a:pPr indent="0" marL="0">
              <a:buNone/>
            </a:pPr>
            <a:r>
              <a:rPr lang="en-US" sz="1350" b="1" spc="120" kern="0" dirty="0">
                <a:solidFill>
                  <a:srgbClr val="5B7B99"/>
                </a:solidFill>
                <a:latin typeface="Calibri" pitchFamily="34" charset="0"/>
                <a:ea typeface="Calibri" pitchFamily="34" charset="-122"/>
                <a:cs typeface="Calibri" pitchFamily="34" charset="-120"/>
              </a:rPr>
              <a:t>STATUS OF EACH LAYER</a:t>
            </a:r>
            <a:endParaRPr lang="en-US" sz="1350" dirty="0"/>
          </a:p>
        </p:txBody>
      </p:sp>
      <p:sp>
        <p:nvSpPr>
          <p:cNvPr id="16" name="Text 14"/>
          <p:cNvSpPr/>
          <p:nvPr/>
        </p:nvSpPr>
        <p:spPr>
          <a:xfrm>
            <a:off x="640080" y="5230368"/>
            <a:ext cx="2103120" cy="347472"/>
          </a:xfrm>
          <a:prstGeom prst="rect">
            <a:avLst/>
          </a:prstGeom>
          <a:noFill/>
          <a:ln/>
        </p:spPr>
        <p:txBody>
          <a:bodyPr wrap="square" rtlCol="0" anchor="ctr"/>
          <a:lstStyle/>
          <a:p>
            <a:pPr indent="0" marL="0">
              <a:buNone/>
            </a:pPr>
            <a:r>
              <a:rPr lang="en-US" sz="1300" dirty="0">
                <a:solidFill>
                  <a:srgbClr val="1E3A5F"/>
                </a:solidFill>
                <a:latin typeface="Calibri" pitchFamily="34" charset="0"/>
                <a:ea typeface="Calibri" pitchFamily="34" charset="-122"/>
                <a:cs typeface="Calibri" pitchFamily="34" charset="-120"/>
              </a:rPr>
              <a:t>Data model</a:t>
            </a:r>
            <a:endParaRPr lang="en-US" sz="1300" dirty="0"/>
          </a:p>
        </p:txBody>
      </p:sp>
      <p:sp>
        <p:nvSpPr>
          <p:cNvPr id="17" name="Text 15"/>
          <p:cNvSpPr/>
          <p:nvPr/>
        </p:nvSpPr>
        <p:spPr>
          <a:xfrm>
            <a:off x="2743200" y="5230368"/>
            <a:ext cx="2926080" cy="347472"/>
          </a:xfrm>
          <a:prstGeom prst="rect">
            <a:avLst/>
          </a:prstGeom>
          <a:noFill/>
          <a:ln/>
        </p:spPr>
        <p:txBody>
          <a:bodyPr wrap="square"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Stable</a:t>
            </a:r>
            <a:endParaRPr lang="en-US" sz="1300" dirty="0"/>
          </a:p>
        </p:txBody>
      </p:sp>
      <p:sp>
        <p:nvSpPr>
          <p:cNvPr id="18" name="Text 16"/>
          <p:cNvSpPr/>
          <p:nvPr/>
        </p:nvSpPr>
        <p:spPr>
          <a:xfrm>
            <a:off x="640080" y="5614416"/>
            <a:ext cx="2103120" cy="347472"/>
          </a:xfrm>
          <a:prstGeom prst="rect">
            <a:avLst/>
          </a:prstGeom>
          <a:noFill/>
          <a:ln/>
        </p:spPr>
        <p:txBody>
          <a:bodyPr wrap="square" rtlCol="0" anchor="ctr"/>
          <a:lstStyle/>
          <a:p>
            <a:pPr indent="0" marL="0">
              <a:buNone/>
            </a:pPr>
            <a:r>
              <a:rPr lang="en-US" sz="1300" dirty="0">
                <a:solidFill>
                  <a:srgbClr val="1E3A5F"/>
                </a:solidFill>
                <a:latin typeface="Calibri" pitchFamily="34" charset="0"/>
                <a:ea typeface="Calibri" pitchFamily="34" charset="-122"/>
                <a:cs typeface="Calibri" pitchFamily="34" charset="-120"/>
              </a:rPr>
              <a:t>API routes</a:t>
            </a:r>
            <a:endParaRPr lang="en-US" sz="1300" dirty="0"/>
          </a:p>
        </p:txBody>
      </p:sp>
      <p:sp>
        <p:nvSpPr>
          <p:cNvPr id="19" name="Text 17"/>
          <p:cNvSpPr/>
          <p:nvPr/>
        </p:nvSpPr>
        <p:spPr>
          <a:xfrm>
            <a:off x="2743200" y="5614416"/>
            <a:ext cx="2926080" cy="347472"/>
          </a:xfrm>
          <a:prstGeom prst="rect">
            <a:avLst/>
          </a:prstGeom>
          <a:noFill/>
          <a:ln/>
        </p:spPr>
        <p:txBody>
          <a:bodyPr wrap="square"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Core done, edge cases WIP</a:t>
            </a:r>
            <a:endParaRPr lang="en-US" sz="1300" dirty="0"/>
          </a:p>
        </p:txBody>
      </p:sp>
      <p:sp>
        <p:nvSpPr>
          <p:cNvPr id="20" name="Text 18"/>
          <p:cNvSpPr/>
          <p:nvPr/>
        </p:nvSpPr>
        <p:spPr>
          <a:xfrm>
            <a:off x="640080" y="5998464"/>
            <a:ext cx="2103120" cy="347472"/>
          </a:xfrm>
          <a:prstGeom prst="rect">
            <a:avLst/>
          </a:prstGeom>
          <a:noFill/>
          <a:ln/>
        </p:spPr>
        <p:txBody>
          <a:bodyPr wrap="square" rtlCol="0" anchor="ctr"/>
          <a:lstStyle/>
          <a:p>
            <a:pPr indent="0" marL="0">
              <a:buNone/>
            </a:pPr>
            <a:r>
              <a:rPr lang="en-US" sz="1300" dirty="0">
                <a:solidFill>
                  <a:srgbClr val="1E3A5F"/>
                </a:solidFill>
                <a:latin typeface="Calibri" pitchFamily="34" charset="0"/>
                <a:ea typeface="Calibri" pitchFamily="34" charset="-122"/>
                <a:cs typeface="Calibri" pitchFamily="34" charset="-120"/>
              </a:rPr>
              <a:t>UI components</a:t>
            </a:r>
            <a:endParaRPr lang="en-US" sz="1300" dirty="0"/>
          </a:p>
        </p:txBody>
      </p:sp>
      <p:sp>
        <p:nvSpPr>
          <p:cNvPr id="21" name="Text 19"/>
          <p:cNvSpPr/>
          <p:nvPr/>
        </p:nvSpPr>
        <p:spPr>
          <a:xfrm>
            <a:off x="2743200" y="5998464"/>
            <a:ext cx="2926080" cy="347472"/>
          </a:xfrm>
          <a:prstGeom prst="rect">
            <a:avLst/>
          </a:prstGeom>
          <a:noFill/>
          <a:ln/>
        </p:spPr>
        <p:txBody>
          <a:bodyPr wrap="square"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In progress</a:t>
            </a:r>
            <a:endParaRPr lang="en-US" sz="1300" dirty="0"/>
          </a:p>
        </p:txBody>
      </p:sp>
      <p:sp>
        <p:nvSpPr>
          <p:cNvPr id="22" name="Shape 20"/>
          <p:cNvSpPr/>
          <p:nvPr/>
        </p:nvSpPr>
        <p:spPr>
          <a:xfrm>
            <a:off x="6035040" y="1280160"/>
            <a:ext cx="5577840" cy="5074920"/>
          </a:xfrm>
          <a:prstGeom prst="roundRect">
            <a:avLst>
              <a:gd name="adj" fmla="val 1802"/>
            </a:avLst>
          </a:prstGeom>
          <a:solidFill>
            <a:srgbClr val="EAF4FC"/>
          </a:solidFill>
          <a:ln w="15875">
            <a:solidFill>
              <a:srgbClr val="CFE6F7"/>
            </a:solidFill>
            <a:prstDash val="solid"/>
          </a:ln>
        </p:spPr>
      </p:sp>
      <p:sp>
        <p:nvSpPr>
          <p:cNvPr id="23" name="Text 21"/>
          <p:cNvSpPr/>
          <p:nvPr/>
        </p:nvSpPr>
        <p:spPr>
          <a:xfrm>
            <a:off x="6263640" y="1463040"/>
            <a:ext cx="5029200" cy="274320"/>
          </a:xfrm>
          <a:prstGeom prst="rect">
            <a:avLst/>
          </a:prstGeom>
          <a:noFill/>
          <a:ln/>
        </p:spPr>
        <p:txBody>
          <a:bodyPr wrap="square" rtlCol="0" anchor="ctr"/>
          <a:lstStyle/>
          <a:p>
            <a:pPr indent="0" marL="0">
              <a:buNone/>
            </a:pPr>
            <a:r>
              <a:rPr lang="en-US" sz="1300" b="1" spc="120" kern="0" dirty="0">
                <a:solidFill>
                  <a:srgbClr val="5B7B99"/>
                </a:solidFill>
                <a:latin typeface="Calibri" pitchFamily="34" charset="0"/>
                <a:ea typeface="Calibri" pitchFamily="34" charset="-122"/>
                <a:cs typeface="Calibri" pitchFamily="34" charset="-120"/>
              </a:rPr>
              <a:t>CORE DATA ENTITIES</a:t>
            </a:r>
            <a:endParaRPr lang="en-US" sz="1300" dirty="0"/>
          </a:p>
        </p:txBody>
      </p:sp>
      <p:sp>
        <p:nvSpPr>
          <p:cNvPr id="24" name="Shape 22"/>
          <p:cNvSpPr/>
          <p:nvPr/>
        </p:nvSpPr>
        <p:spPr>
          <a:xfrm>
            <a:off x="6309360" y="1874520"/>
            <a:ext cx="1554480" cy="621792"/>
          </a:xfrm>
          <a:prstGeom prst="roundRect">
            <a:avLst>
              <a:gd name="adj" fmla="val 10294"/>
            </a:avLst>
          </a:prstGeom>
          <a:solidFill>
            <a:srgbClr val="FFFFFF"/>
          </a:solidFill>
          <a:ln w="19050">
            <a:solidFill>
              <a:srgbClr val="0284C7"/>
            </a:solidFill>
            <a:prstDash val="solid"/>
          </a:ln>
        </p:spPr>
      </p:sp>
      <p:sp>
        <p:nvSpPr>
          <p:cNvPr id="25" name="Text 23"/>
          <p:cNvSpPr/>
          <p:nvPr/>
        </p:nvSpPr>
        <p:spPr>
          <a:xfrm>
            <a:off x="6309360" y="18745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User</a:t>
            </a:r>
            <a:endParaRPr lang="en-US" sz="1200" dirty="0"/>
          </a:p>
        </p:txBody>
      </p:sp>
      <p:sp>
        <p:nvSpPr>
          <p:cNvPr id="26" name="Shape 24"/>
          <p:cNvSpPr/>
          <p:nvPr/>
        </p:nvSpPr>
        <p:spPr>
          <a:xfrm>
            <a:off x="8046720" y="1874520"/>
            <a:ext cx="1554480" cy="621792"/>
          </a:xfrm>
          <a:prstGeom prst="roundRect">
            <a:avLst>
              <a:gd name="adj" fmla="val 10294"/>
            </a:avLst>
          </a:prstGeom>
          <a:solidFill>
            <a:srgbClr val="FFFFFF"/>
          </a:solidFill>
          <a:ln w="19050">
            <a:solidFill>
              <a:srgbClr val="0284C7"/>
            </a:solidFill>
            <a:prstDash val="solid"/>
          </a:ln>
        </p:spPr>
      </p:sp>
      <p:sp>
        <p:nvSpPr>
          <p:cNvPr id="27" name="Text 25"/>
          <p:cNvSpPr/>
          <p:nvPr/>
        </p:nvSpPr>
        <p:spPr>
          <a:xfrm>
            <a:off x="8046720" y="18745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Complaint</a:t>
            </a:r>
            <a:endParaRPr lang="en-US" sz="1200" dirty="0"/>
          </a:p>
        </p:txBody>
      </p:sp>
      <p:sp>
        <p:nvSpPr>
          <p:cNvPr id="28" name="Shape 26"/>
          <p:cNvSpPr/>
          <p:nvPr/>
        </p:nvSpPr>
        <p:spPr>
          <a:xfrm>
            <a:off x="9784080" y="1874520"/>
            <a:ext cx="1554480" cy="621792"/>
          </a:xfrm>
          <a:prstGeom prst="roundRect">
            <a:avLst>
              <a:gd name="adj" fmla="val 10294"/>
            </a:avLst>
          </a:prstGeom>
          <a:solidFill>
            <a:srgbClr val="FFFFFF"/>
          </a:solidFill>
          <a:ln w="19050">
            <a:solidFill>
              <a:srgbClr val="0284C7"/>
            </a:solidFill>
            <a:prstDash val="solid"/>
          </a:ln>
        </p:spPr>
      </p:sp>
      <p:sp>
        <p:nvSpPr>
          <p:cNvPr id="29" name="Text 27"/>
          <p:cNvSpPr/>
          <p:nvPr/>
        </p:nvSpPr>
        <p:spPr>
          <a:xfrm>
            <a:off x="9784080" y="18745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Office</a:t>
            </a:r>
            <a:endParaRPr lang="en-US" sz="1200" dirty="0"/>
          </a:p>
        </p:txBody>
      </p:sp>
      <p:sp>
        <p:nvSpPr>
          <p:cNvPr id="30" name="Shape 28"/>
          <p:cNvSpPr/>
          <p:nvPr/>
        </p:nvSpPr>
        <p:spPr>
          <a:xfrm>
            <a:off x="6309360" y="2788920"/>
            <a:ext cx="1554480" cy="621792"/>
          </a:xfrm>
          <a:prstGeom prst="roundRect">
            <a:avLst>
              <a:gd name="adj" fmla="val 10294"/>
            </a:avLst>
          </a:prstGeom>
          <a:solidFill>
            <a:srgbClr val="FFFFFF"/>
          </a:solidFill>
          <a:ln w="19050">
            <a:solidFill>
              <a:srgbClr val="0284C7"/>
            </a:solidFill>
            <a:prstDash val="solid"/>
          </a:ln>
        </p:spPr>
      </p:sp>
      <p:sp>
        <p:nvSpPr>
          <p:cNvPr id="31" name="Text 29"/>
          <p:cNvSpPr/>
          <p:nvPr/>
        </p:nvSpPr>
        <p:spPr>
          <a:xfrm>
            <a:off x="6309360" y="27889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Category</a:t>
            </a:r>
            <a:endParaRPr lang="en-US" sz="1200" dirty="0"/>
          </a:p>
        </p:txBody>
      </p:sp>
      <p:sp>
        <p:nvSpPr>
          <p:cNvPr id="32" name="Shape 30"/>
          <p:cNvSpPr/>
          <p:nvPr/>
        </p:nvSpPr>
        <p:spPr>
          <a:xfrm>
            <a:off x="8046720" y="2788920"/>
            <a:ext cx="1554480" cy="621792"/>
          </a:xfrm>
          <a:prstGeom prst="roundRect">
            <a:avLst>
              <a:gd name="adj" fmla="val 10294"/>
            </a:avLst>
          </a:prstGeom>
          <a:solidFill>
            <a:srgbClr val="FFFFFF"/>
          </a:solidFill>
          <a:ln w="19050">
            <a:solidFill>
              <a:srgbClr val="0284C7"/>
            </a:solidFill>
            <a:prstDash val="solid"/>
          </a:ln>
        </p:spPr>
      </p:sp>
      <p:sp>
        <p:nvSpPr>
          <p:cNvPr id="33" name="Text 31"/>
          <p:cNvSpPr/>
          <p:nvPr/>
        </p:nvSpPr>
        <p:spPr>
          <a:xfrm>
            <a:off x="8046720" y="27889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Attachment</a:t>
            </a:r>
            <a:endParaRPr lang="en-US" sz="1200" dirty="0"/>
          </a:p>
        </p:txBody>
      </p:sp>
      <p:sp>
        <p:nvSpPr>
          <p:cNvPr id="34" name="Shape 32"/>
          <p:cNvSpPr/>
          <p:nvPr/>
        </p:nvSpPr>
        <p:spPr>
          <a:xfrm>
            <a:off x="9784080" y="2788920"/>
            <a:ext cx="1554480" cy="621792"/>
          </a:xfrm>
          <a:prstGeom prst="roundRect">
            <a:avLst>
              <a:gd name="adj" fmla="val 10294"/>
            </a:avLst>
          </a:prstGeom>
          <a:solidFill>
            <a:srgbClr val="FFFFFF"/>
          </a:solidFill>
          <a:ln w="19050">
            <a:solidFill>
              <a:srgbClr val="0284C7"/>
            </a:solidFill>
            <a:prstDash val="solid"/>
          </a:ln>
        </p:spPr>
      </p:sp>
      <p:sp>
        <p:nvSpPr>
          <p:cNvPr id="35" name="Text 33"/>
          <p:cNvSpPr/>
          <p:nvPr/>
        </p:nvSpPr>
        <p:spPr>
          <a:xfrm>
            <a:off x="9784080" y="27889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AuditLog</a:t>
            </a:r>
            <a:endParaRPr lang="en-US" sz="1200" dirty="0"/>
          </a:p>
        </p:txBody>
      </p:sp>
      <p:sp>
        <p:nvSpPr>
          <p:cNvPr id="36" name="Shape 34"/>
          <p:cNvSpPr/>
          <p:nvPr/>
        </p:nvSpPr>
        <p:spPr>
          <a:xfrm>
            <a:off x="6309360" y="3703320"/>
            <a:ext cx="1554480" cy="621792"/>
          </a:xfrm>
          <a:prstGeom prst="roundRect">
            <a:avLst>
              <a:gd name="adj" fmla="val 10294"/>
            </a:avLst>
          </a:prstGeom>
          <a:solidFill>
            <a:srgbClr val="FFFFFF"/>
          </a:solidFill>
          <a:ln w="19050">
            <a:solidFill>
              <a:srgbClr val="0284C7"/>
            </a:solidFill>
            <a:prstDash val="solid"/>
          </a:ln>
        </p:spPr>
      </p:sp>
      <p:sp>
        <p:nvSpPr>
          <p:cNvPr id="37" name="Text 35"/>
          <p:cNvSpPr/>
          <p:nvPr/>
        </p:nvSpPr>
        <p:spPr>
          <a:xfrm>
            <a:off x="6309360" y="37033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Notification</a:t>
            </a:r>
            <a:endParaRPr lang="en-US" sz="1200" dirty="0"/>
          </a:p>
        </p:txBody>
      </p:sp>
      <p:sp>
        <p:nvSpPr>
          <p:cNvPr id="38" name="Shape 36"/>
          <p:cNvSpPr/>
          <p:nvPr/>
        </p:nvSpPr>
        <p:spPr>
          <a:xfrm>
            <a:off x="8046720" y="3703320"/>
            <a:ext cx="1554480" cy="621792"/>
          </a:xfrm>
          <a:prstGeom prst="roundRect">
            <a:avLst>
              <a:gd name="adj" fmla="val 10294"/>
            </a:avLst>
          </a:prstGeom>
          <a:solidFill>
            <a:srgbClr val="FFFFFF"/>
          </a:solidFill>
          <a:ln w="19050">
            <a:solidFill>
              <a:srgbClr val="0284C7"/>
            </a:solidFill>
            <a:prstDash val="solid"/>
          </a:ln>
        </p:spPr>
      </p:sp>
      <p:sp>
        <p:nvSpPr>
          <p:cNvPr id="39" name="Text 37"/>
          <p:cNvSpPr/>
          <p:nvPr/>
        </p:nvSpPr>
        <p:spPr>
          <a:xfrm>
            <a:off x="8046720" y="37033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GeneratedReport</a:t>
            </a:r>
            <a:endParaRPr lang="en-US" sz="1200" dirty="0"/>
          </a:p>
        </p:txBody>
      </p:sp>
      <p:sp>
        <p:nvSpPr>
          <p:cNvPr id="40" name="Shape 38"/>
          <p:cNvSpPr/>
          <p:nvPr/>
        </p:nvSpPr>
        <p:spPr>
          <a:xfrm>
            <a:off x="9784080" y="3703320"/>
            <a:ext cx="1554480" cy="621792"/>
          </a:xfrm>
          <a:prstGeom prst="roundRect">
            <a:avLst>
              <a:gd name="adj" fmla="val 10294"/>
            </a:avLst>
          </a:prstGeom>
          <a:solidFill>
            <a:srgbClr val="FFFFFF"/>
          </a:solidFill>
          <a:ln w="19050">
            <a:solidFill>
              <a:srgbClr val="0284C7"/>
            </a:solidFill>
            <a:prstDash val="solid"/>
          </a:ln>
        </p:spPr>
      </p:sp>
      <p:sp>
        <p:nvSpPr>
          <p:cNvPr id="41" name="Text 39"/>
          <p:cNvSpPr/>
          <p:nvPr/>
        </p:nvSpPr>
        <p:spPr>
          <a:xfrm>
            <a:off x="9784080" y="3703320"/>
            <a:ext cx="1554480" cy="621792"/>
          </a:xfrm>
          <a:prstGeom prst="rect">
            <a:avLst/>
          </a:prstGeom>
          <a:noFill/>
          <a:ln/>
        </p:spPr>
        <p:txBody>
          <a:bodyPr wrap="square" rtlCol="0" anchor="ctr"/>
          <a:lstStyle/>
          <a:p>
            <a:pPr algn="ctr" indent="0" marL="0">
              <a:buNone/>
            </a:pPr>
            <a:r>
              <a:rPr lang="en-US" sz="1200" b="1" dirty="0">
                <a:solidFill>
                  <a:srgbClr val="0369A1"/>
                </a:solidFill>
                <a:latin typeface="Calibri" pitchFamily="34" charset="0"/>
                <a:ea typeface="Calibri" pitchFamily="34" charset="-122"/>
                <a:cs typeface="Calibri" pitchFamily="34" charset="-120"/>
              </a:rPr>
              <a:t>Settings</a:t>
            </a:r>
            <a:endParaRPr lang="en-US" sz="1200" dirty="0"/>
          </a:p>
        </p:txBody>
      </p:sp>
      <p:sp>
        <p:nvSpPr>
          <p:cNvPr id="42" name="Text 40"/>
          <p:cNvSpPr/>
          <p:nvPr/>
        </p:nvSpPr>
        <p:spPr>
          <a:xfrm>
            <a:off x="6263640" y="4983480"/>
            <a:ext cx="5120640" cy="822960"/>
          </a:xfrm>
          <a:prstGeom prst="rect">
            <a:avLst/>
          </a:prstGeom>
          <a:noFill/>
          <a:ln/>
        </p:spPr>
        <p:txBody>
          <a:bodyPr wrap="square" rtlCol="0" anchor="ctr"/>
          <a:lstStyle/>
          <a:p>
            <a:pPr indent="0" marL="0">
              <a:lnSpc>
                <a:spcPct val="130000"/>
              </a:lnSpc>
              <a:buNone/>
            </a:pPr>
            <a:r>
              <a:rPr lang="en-US" sz="1200" i="1" dirty="0">
                <a:solidFill>
                  <a:srgbClr val="5B7B99"/>
                </a:solidFill>
                <a:latin typeface="Calibri" pitchFamily="34" charset="0"/>
                <a:ea typeface="Calibri" pitchFamily="34" charset="-122"/>
                <a:cs typeface="Calibri" pitchFamily="34" charset="-120"/>
              </a:rPr>
              <a:t>Full entity-relationship diagram available in project documentation.</a:t>
            </a:r>
            <a:endParaRPr lang="en-US" sz="1200" dirty="0"/>
          </a:p>
        </p:txBody>
      </p:sp>
      <p:sp>
        <p:nvSpPr>
          <p:cNvPr id="43" name="Text 41"/>
          <p:cNvSpPr/>
          <p:nvPr/>
        </p:nvSpPr>
        <p:spPr>
          <a:xfrm>
            <a:off x="457200" y="6492240"/>
            <a:ext cx="7315200" cy="274320"/>
          </a:xfrm>
          <a:prstGeom prst="rect">
            <a:avLst/>
          </a:prstGeom>
          <a:noFill/>
          <a:ln/>
        </p:spPr>
        <p:txBody>
          <a:bodyPr wrap="square" rtlCol="0" anchor="ctr"/>
          <a:lstStyle/>
          <a:p>
            <a:pPr indent="0" marL="0">
              <a:buNone/>
            </a:pPr>
            <a:r>
              <a:rPr lang="en-US" sz="1100" dirty="0">
                <a:solidFill>
                  <a:srgbClr val="5B7B99"/>
                </a:solidFill>
                <a:latin typeface="Calibri" pitchFamily="34" charset="0"/>
                <a:ea typeface="Calibri" pitchFamily="34" charset="-122"/>
                <a:cs typeface="Calibri" pitchFamily="34" charset="-120"/>
              </a:rPr>
              <a:t>ParSU e-Feedback System  |  Development Progress Report</a:t>
            </a:r>
            <a:endParaRPr lang="en-US" sz="1100" dirty="0"/>
          </a:p>
        </p:txBody>
      </p:sp>
      <p:sp>
        <p:nvSpPr>
          <p:cNvPr id="44" name="Text 42"/>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5B7B99"/>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3000" b="1" dirty="0">
                <a:solidFill>
                  <a:srgbClr val="0B3D91"/>
                </a:solidFill>
                <a:latin typeface="Calibri" pitchFamily="34" charset="0"/>
                <a:ea typeface="Calibri" pitchFamily="34" charset="-122"/>
                <a:cs typeface="Calibri" pitchFamily="34" charset="-120"/>
              </a:rPr>
              <a:t>Timeline &amp; Next Steps</a:t>
            </a:r>
            <a:endParaRPr lang="en-US" sz="3000" dirty="0"/>
          </a:p>
        </p:txBody>
      </p:sp>
      <p:sp>
        <p:nvSpPr>
          <p:cNvPr id="3" name="Shape 1"/>
          <p:cNvSpPr/>
          <p:nvPr/>
        </p:nvSpPr>
        <p:spPr>
          <a:xfrm>
            <a:off x="658368" y="1024128"/>
            <a:ext cx="914400" cy="64008"/>
          </a:xfrm>
          <a:prstGeom prst="rect">
            <a:avLst/>
          </a:prstGeom>
          <a:solidFill>
            <a:srgbClr val="0284C7"/>
          </a:solidFill>
          <a:ln/>
        </p:spPr>
      </p:sp>
      <p:sp>
        <p:nvSpPr>
          <p:cNvPr id="4" name="Shape 2"/>
          <p:cNvSpPr/>
          <p:nvPr/>
        </p:nvSpPr>
        <p:spPr>
          <a:xfrm>
            <a:off x="960120" y="3337560"/>
            <a:ext cx="10241280" cy="0"/>
          </a:xfrm>
          <a:prstGeom prst="line">
            <a:avLst/>
          </a:prstGeom>
          <a:noFill/>
          <a:ln w="38100">
            <a:solidFill>
              <a:srgbClr val="CFE6F7"/>
            </a:solidFill>
            <a:prstDash val="solid"/>
          </a:ln>
        </p:spPr>
      </p:sp>
      <p:sp>
        <p:nvSpPr>
          <p:cNvPr id="5" name="Shape 3"/>
          <p:cNvSpPr/>
          <p:nvPr/>
        </p:nvSpPr>
        <p:spPr>
          <a:xfrm>
            <a:off x="832104" y="3209544"/>
            <a:ext cx="256032" cy="256032"/>
          </a:xfrm>
          <a:prstGeom prst="ellipse">
            <a:avLst/>
          </a:prstGeom>
          <a:solidFill>
            <a:srgbClr val="0369A1"/>
          </a:solidFill>
          <a:ln w="31750">
            <a:solidFill>
              <a:srgbClr val="FFFFFF"/>
            </a:solidFill>
            <a:prstDash val="solid"/>
          </a:ln>
        </p:spPr>
      </p:sp>
      <p:sp>
        <p:nvSpPr>
          <p:cNvPr id="6" name="Text 4"/>
          <p:cNvSpPr/>
          <p:nvPr/>
        </p:nvSpPr>
        <p:spPr>
          <a:xfrm>
            <a:off x="-45720" y="1874520"/>
            <a:ext cx="2011680" cy="365760"/>
          </a:xfrm>
          <a:prstGeom prst="rect">
            <a:avLst/>
          </a:prstGeom>
          <a:noFill/>
          <a:ln/>
        </p:spPr>
        <p:txBody>
          <a:bodyPr wrap="square" rtlCol="0" anchor="ctr"/>
          <a:lstStyle/>
          <a:p>
            <a:pPr algn="ctr" indent="0" marL="0">
              <a:buNone/>
            </a:pPr>
            <a:r>
              <a:rPr lang="en-US" sz="1400" b="1" dirty="0">
                <a:solidFill>
                  <a:srgbClr val="0B3D91"/>
                </a:solidFill>
                <a:latin typeface="Calibri" pitchFamily="34" charset="0"/>
                <a:ea typeface="Calibri" pitchFamily="34" charset="-122"/>
                <a:cs typeface="Calibri" pitchFamily="34" charset="-120"/>
              </a:rPr>
              <a:t>Phase 1–3</a:t>
            </a:r>
            <a:endParaRPr lang="en-US" sz="1400" dirty="0"/>
          </a:p>
        </p:txBody>
      </p:sp>
      <p:sp>
        <p:nvSpPr>
          <p:cNvPr id="7" name="Text 5"/>
          <p:cNvSpPr/>
          <p:nvPr/>
        </p:nvSpPr>
        <p:spPr>
          <a:xfrm>
            <a:off x="-45720" y="2203704"/>
            <a:ext cx="2011680" cy="685800"/>
          </a:xfrm>
          <a:prstGeom prst="rect">
            <a:avLst/>
          </a:prstGeom>
          <a:noFill/>
          <a:ln/>
        </p:spPr>
        <p:txBody>
          <a:bodyPr wrap="square" rtlCol="0" anchor="ctr"/>
          <a:lstStyle/>
          <a:p>
            <a:pPr algn="ctr" indent="0" marL="0">
              <a:lnSpc>
                <a:spcPct val="115000"/>
              </a:lnSpc>
              <a:buNone/>
            </a:pPr>
            <a:r>
              <a:rPr lang="en-US" sz="1100" dirty="0">
                <a:solidFill>
                  <a:srgbClr val="1E3A5F"/>
                </a:solidFill>
                <a:latin typeface="Calibri" pitchFamily="34" charset="0"/>
                <a:ea typeface="Calibri" pitchFamily="34" charset="-122"/>
                <a:cs typeface="Calibri" pitchFamily="34" charset="-120"/>
              </a:rPr>
              <a:t>Planning, data model, auth &amp; core UI</a:t>
            </a:r>
            <a:endParaRPr lang="en-US" sz="1100" dirty="0"/>
          </a:p>
        </p:txBody>
      </p:sp>
      <p:sp>
        <p:nvSpPr>
          <p:cNvPr id="8" name="Text 6"/>
          <p:cNvSpPr/>
          <p:nvPr/>
        </p:nvSpPr>
        <p:spPr>
          <a:xfrm>
            <a:off x="-45720" y="2898648"/>
            <a:ext cx="2011680" cy="292608"/>
          </a:xfrm>
          <a:prstGeom prst="rect">
            <a:avLst/>
          </a:prstGeom>
          <a:noFill/>
          <a:ln/>
        </p:spPr>
        <p:txBody>
          <a:bodyPr wrap="square" rtlCol="0" anchor="ctr"/>
          <a:lstStyle/>
          <a:p>
            <a:pPr algn="ctr" indent="0" marL="0">
              <a:buNone/>
            </a:pPr>
            <a:r>
              <a:rPr lang="en-US" sz="1150" b="1" dirty="0">
                <a:solidFill>
                  <a:srgbClr val="0369A1"/>
                </a:solidFill>
                <a:latin typeface="Calibri" pitchFamily="34" charset="0"/>
                <a:ea typeface="Calibri" pitchFamily="34" charset="-122"/>
                <a:cs typeface="Calibri" pitchFamily="34" charset="-120"/>
              </a:rPr>
              <a:t>Complete</a:t>
            </a:r>
            <a:endParaRPr lang="en-US" sz="1150" dirty="0"/>
          </a:p>
        </p:txBody>
      </p:sp>
      <p:sp>
        <p:nvSpPr>
          <p:cNvPr id="9" name="Shape 7"/>
          <p:cNvSpPr/>
          <p:nvPr/>
        </p:nvSpPr>
        <p:spPr>
          <a:xfrm>
            <a:off x="3392424" y="3209544"/>
            <a:ext cx="256032" cy="256032"/>
          </a:xfrm>
          <a:prstGeom prst="ellipse">
            <a:avLst/>
          </a:prstGeom>
          <a:solidFill>
            <a:srgbClr val="0369A1"/>
          </a:solidFill>
          <a:ln w="31750">
            <a:solidFill>
              <a:srgbClr val="FFFFFF"/>
            </a:solidFill>
            <a:prstDash val="solid"/>
          </a:ln>
        </p:spPr>
      </p:sp>
      <p:sp>
        <p:nvSpPr>
          <p:cNvPr id="10" name="Text 8"/>
          <p:cNvSpPr/>
          <p:nvPr/>
        </p:nvSpPr>
        <p:spPr>
          <a:xfrm>
            <a:off x="2514600" y="3703320"/>
            <a:ext cx="2011680" cy="365760"/>
          </a:xfrm>
          <a:prstGeom prst="rect">
            <a:avLst/>
          </a:prstGeom>
          <a:noFill/>
          <a:ln/>
        </p:spPr>
        <p:txBody>
          <a:bodyPr wrap="square" rtlCol="0" anchor="ctr"/>
          <a:lstStyle/>
          <a:p>
            <a:pPr algn="ctr" indent="0" marL="0">
              <a:buNone/>
            </a:pPr>
            <a:r>
              <a:rPr lang="en-US" sz="1400" b="1" dirty="0">
                <a:solidFill>
                  <a:srgbClr val="0B3D91"/>
                </a:solidFill>
                <a:latin typeface="Calibri" pitchFamily="34" charset="0"/>
                <a:ea typeface="Calibri" pitchFamily="34" charset="-122"/>
                <a:cs typeface="Calibri" pitchFamily="34" charset="-120"/>
              </a:rPr>
              <a:t>Phase 4–5</a:t>
            </a:r>
            <a:endParaRPr lang="en-US" sz="1400" dirty="0"/>
          </a:p>
        </p:txBody>
      </p:sp>
      <p:sp>
        <p:nvSpPr>
          <p:cNvPr id="11" name="Text 9"/>
          <p:cNvSpPr/>
          <p:nvPr/>
        </p:nvSpPr>
        <p:spPr>
          <a:xfrm>
            <a:off x="2514600" y="4032504"/>
            <a:ext cx="2011680" cy="685800"/>
          </a:xfrm>
          <a:prstGeom prst="rect">
            <a:avLst/>
          </a:prstGeom>
          <a:noFill/>
          <a:ln/>
        </p:spPr>
        <p:txBody>
          <a:bodyPr wrap="square" rtlCol="0" anchor="ctr"/>
          <a:lstStyle/>
          <a:p>
            <a:pPr algn="ctr" indent="0" marL="0">
              <a:lnSpc>
                <a:spcPct val="115000"/>
              </a:lnSpc>
              <a:buNone/>
            </a:pPr>
            <a:r>
              <a:rPr lang="en-US" sz="1100" dirty="0">
                <a:solidFill>
                  <a:srgbClr val="1E3A5F"/>
                </a:solidFill>
                <a:latin typeface="Calibri" pitchFamily="34" charset="0"/>
                <a:ea typeface="Calibri" pitchFamily="34" charset="-122"/>
                <a:cs typeface="Calibri" pitchFamily="34" charset="-120"/>
              </a:rPr>
              <a:t>Student &amp; staff complaint workflow</a:t>
            </a:r>
            <a:endParaRPr lang="en-US" sz="1100" dirty="0"/>
          </a:p>
        </p:txBody>
      </p:sp>
      <p:sp>
        <p:nvSpPr>
          <p:cNvPr id="12" name="Text 10"/>
          <p:cNvSpPr/>
          <p:nvPr/>
        </p:nvSpPr>
        <p:spPr>
          <a:xfrm>
            <a:off x="2514600" y="4663440"/>
            <a:ext cx="2011680" cy="292608"/>
          </a:xfrm>
          <a:prstGeom prst="rect">
            <a:avLst/>
          </a:prstGeom>
          <a:noFill/>
          <a:ln/>
        </p:spPr>
        <p:txBody>
          <a:bodyPr wrap="square" rtlCol="0" anchor="ctr"/>
          <a:lstStyle/>
          <a:p>
            <a:pPr algn="ctr" indent="0" marL="0">
              <a:buNone/>
            </a:pPr>
            <a:r>
              <a:rPr lang="en-US" sz="1150" b="1" dirty="0">
                <a:solidFill>
                  <a:srgbClr val="0369A1"/>
                </a:solidFill>
                <a:latin typeface="Calibri" pitchFamily="34" charset="0"/>
                <a:ea typeface="Calibri" pitchFamily="34" charset="-122"/>
                <a:cs typeface="Calibri" pitchFamily="34" charset="-120"/>
              </a:rPr>
              <a:t>Complete</a:t>
            </a:r>
            <a:endParaRPr lang="en-US" sz="1150" dirty="0"/>
          </a:p>
        </p:txBody>
      </p:sp>
      <p:sp>
        <p:nvSpPr>
          <p:cNvPr id="13" name="Shape 11"/>
          <p:cNvSpPr/>
          <p:nvPr/>
        </p:nvSpPr>
        <p:spPr>
          <a:xfrm>
            <a:off x="5952744" y="3209544"/>
            <a:ext cx="256032" cy="256032"/>
          </a:xfrm>
          <a:prstGeom prst="ellipse">
            <a:avLst/>
          </a:prstGeom>
          <a:solidFill>
            <a:srgbClr val="0284C7"/>
          </a:solidFill>
          <a:ln w="31750">
            <a:solidFill>
              <a:srgbClr val="FFFFFF"/>
            </a:solidFill>
            <a:prstDash val="solid"/>
          </a:ln>
        </p:spPr>
      </p:sp>
      <p:sp>
        <p:nvSpPr>
          <p:cNvPr id="14" name="Text 12"/>
          <p:cNvSpPr/>
          <p:nvPr/>
        </p:nvSpPr>
        <p:spPr>
          <a:xfrm>
            <a:off x="5074920" y="1874520"/>
            <a:ext cx="2011680" cy="365760"/>
          </a:xfrm>
          <a:prstGeom prst="rect">
            <a:avLst/>
          </a:prstGeom>
          <a:noFill/>
          <a:ln/>
        </p:spPr>
        <p:txBody>
          <a:bodyPr wrap="square" rtlCol="0" anchor="ctr"/>
          <a:lstStyle/>
          <a:p>
            <a:pPr algn="ctr" indent="0" marL="0">
              <a:buNone/>
            </a:pPr>
            <a:r>
              <a:rPr lang="en-US" sz="1400" b="1" dirty="0">
                <a:solidFill>
                  <a:srgbClr val="0B3D91"/>
                </a:solidFill>
                <a:latin typeface="Calibri" pitchFamily="34" charset="0"/>
                <a:ea typeface="Calibri" pitchFamily="34" charset="-122"/>
                <a:cs typeface="Calibri" pitchFamily="34" charset="-120"/>
              </a:rPr>
              <a:t>Phase 6 (current)</a:t>
            </a:r>
            <a:endParaRPr lang="en-US" sz="1400" dirty="0"/>
          </a:p>
        </p:txBody>
      </p:sp>
      <p:sp>
        <p:nvSpPr>
          <p:cNvPr id="15" name="Text 13"/>
          <p:cNvSpPr/>
          <p:nvPr/>
        </p:nvSpPr>
        <p:spPr>
          <a:xfrm>
            <a:off x="5074920" y="2203704"/>
            <a:ext cx="2011680" cy="685800"/>
          </a:xfrm>
          <a:prstGeom prst="rect">
            <a:avLst/>
          </a:prstGeom>
          <a:noFill/>
          <a:ln/>
        </p:spPr>
        <p:txBody>
          <a:bodyPr wrap="square" rtlCol="0" anchor="ctr"/>
          <a:lstStyle/>
          <a:p>
            <a:pPr algn="ctr" indent="0" marL="0">
              <a:lnSpc>
                <a:spcPct val="115000"/>
              </a:lnSpc>
              <a:buNone/>
            </a:pPr>
            <a:r>
              <a:rPr lang="en-US" sz="1100" dirty="0">
                <a:solidFill>
                  <a:srgbClr val="1E3A5F"/>
                </a:solidFill>
                <a:latin typeface="Calibri" pitchFamily="34" charset="0"/>
                <a:ea typeface="Calibri" pitchFamily="34" charset="-122"/>
                <a:cs typeface="Calibri" pitchFamily="34" charset="-120"/>
              </a:rPr>
              <a:t>Dean/QA tooling, analytics, notifications</a:t>
            </a:r>
            <a:endParaRPr lang="en-US" sz="1100" dirty="0"/>
          </a:p>
        </p:txBody>
      </p:sp>
      <p:sp>
        <p:nvSpPr>
          <p:cNvPr id="16" name="Text 14"/>
          <p:cNvSpPr/>
          <p:nvPr/>
        </p:nvSpPr>
        <p:spPr>
          <a:xfrm>
            <a:off x="5074920" y="2898648"/>
            <a:ext cx="2011680" cy="292608"/>
          </a:xfrm>
          <a:prstGeom prst="rect">
            <a:avLst/>
          </a:prstGeom>
          <a:noFill/>
          <a:ln/>
        </p:spPr>
        <p:txBody>
          <a:bodyPr wrap="square" rtlCol="0" anchor="ctr"/>
          <a:lstStyle/>
          <a:p>
            <a:pPr algn="ctr" indent="0" marL="0">
              <a:buNone/>
            </a:pPr>
            <a:r>
              <a:rPr lang="en-US" sz="1150" b="1" dirty="0">
                <a:solidFill>
                  <a:srgbClr val="0284C7"/>
                </a:solidFill>
                <a:latin typeface="Calibri" pitchFamily="34" charset="0"/>
                <a:ea typeface="Calibri" pitchFamily="34" charset="-122"/>
                <a:cs typeface="Calibri" pitchFamily="34" charset="-120"/>
              </a:rPr>
              <a:t>In progress — 50%</a:t>
            </a:r>
            <a:endParaRPr lang="en-US" sz="1150" dirty="0"/>
          </a:p>
        </p:txBody>
      </p:sp>
      <p:sp>
        <p:nvSpPr>
          <p:cNvPr id="17" name="Shape 15"/>
          <p:cNvSpPr/>
          <p:nvPr/>
        </p:nvSpPr>
        <p:spPr>
          <a:xfrm>
            <a:off x="8513064" y="3209544"/>
            <a:ext cx="256032" cy="256032"/>
          </a:xfrm>
          <a:prstGeom prst="ellipse">
            <a:avLst/>
          </a:prstGeom>
          <a:solidFill>
            <a:srgbClr val="AFD3EE"/>
          </a:solidFill>
          <a:ln w="31750">
            <a:solidFill>
              <a:srgbClr val="FFFFFF"/>
            </a:solidFill>
            <a:prstDash val="solid"/>
          </a:ln>
        </p:spPr>
      </p:sp>
      <p:sp>
        <p:nvSpPr>
          <p:cNvPr id="18" name="Text 16"/>
          <p:cNvSpPr/>
          <p:nvPr/>
        </p:nvSpPr>
        <p:spPr>
          <a:xfrm>
            <a:off x="7635240" y="3703320"/>
            <a:ext cx="2011680" cy="365760"/>
          </a:xfrm>
          <a:prstGeom prst="rect">
            <a:avLst/>
          </a:prstGeom>
          <a:noFill/>
          <a:ln/>
        </p:spPr>
        <p:txBody>
          <a:bodyPr wrap="square" rtlCol="0" anchor="ctr"/>
          <a:lstStyle/>
          <a:p>
            <a:pPr algn="ctr" indent="0" marL="0">
              <a:buNone/>
            </a:pPr>
            <a:r>
              <a:rPr lang="en-US" sz="1400" b="1" dirty="0">
                <a:solidFill>
                  <a:srgbClr val="0B3D91"/>
                </a:solidFill>
                <a:latin typeface="Calibri" pitchFamily="34" charset="0"/>
                <a:ea typeface="Calibri" pitchFamily="34" charset="-122"/>
                <a:cs typeface="Calibri" pitchFamily="34" charset="-120"/>
              </a:rPr>
              <a:t>Phase 7</a:t>
            </a:r>
            <a:endParaRPr lang="en-US" sz="1400" dirty="0"/>
          </a:p>
        </p:txBody>
      </p:sp>
      <p:sp>
        <p:nvSpPr>
          <p:cNvPr id="19" name="Text 17"/>
          <p:cNvSpPr/>
          <p:nvPr/>
        </p:nvSpPr>
        <p:spPr>
          <a:xfrm>
            <a:off x="7635240" y="4032504"/>
            <a:ext cx="2011680" cy="685800"/>
          </a:xfrm>
          <a:prstGeom prst="rect">
            <a:avLst/>
          </a:prstGeom>
          <a:noFill/>
          <a:ln/>
        </p:spPr>
        <p:txBody>
          <a:bodyPr wrap="square" rtlCol="0" anchor="ctr"/>
          <a:lstStyle/>
          <a:p>
            <a:pPr algn="ctr" indent="0" marL="0">
              <a:lnSpc>
                <a:spcPct val="115000"/>
              </a:lnSpc>
              <a:buNone/>
            </a:pPr>
            <a:r>
              <a:rPr lang="en-US" sz="1100" dirty="0">
                <a:solidFill>
                  <a:srgbClr val="1E3A5F"/>
                </a:solidFill>
                <a:latin typeface="Calibri" pitchFamily="34" charset="0"/>
                <a:ea typeface="Calibri" pitchFamily="34" charset="-122"/>
                <a:cs typeface="Calibri" pitchFamily="34" charset="-120"/>
              </a:rPr>
              <a:t>Admin configuration, SLA automation, full reporting</a:t>
            </a:r>
            <a:endParaRPr lang="en-US" sz="1100" dirty="0"/>
          </a:p>
        </p:txBody>
      </p:sp>
      <p:sp>
        <p:nvSpPr>
          <p:cNvPr id="20" name="Text 18"/>
          <p:cNvSpPr/>
          <p:nvPr/>
        </p:nvSpPr>
        <p:spPr>
          <a:xfrm>
            <a:off x="7635240" y="4663440"/>
            <a:ext cx="2011680" cy="292608"/>
          </a:xfrm>
          <a:prstGeom prst="rect">
            <a:avLst/>
          </a:prstGeom>
          <a:noFill/>
          <a:ln/>
        </p:spPr>
        <p:txBody>
          <a:bodyPr wrap="square" rtlCol="0" anchor="ctr"/>
          <a:lstStyle/>
          <a:p>
            <a:pPr algn="ctr" indent="0" marL="0">
              <a:buNone/>
            </a:pPr>
            <a:r>
              <a:rPr lang="en-US" sz="1150" b="1" dirty="0">
                <a:solidFill>
                  <a:srgbClr val="5B7B99"/>
                </a:solidFill>
                <a:latin typeface="Calibri" pitchFamily="34" charset="0"/>
                <a:ea typeface="Calibri" pitchFamily="34" charset="-122"/>
                <a:cs typeface="Calibri" pitchFamily="34" charset="-120"/>
              </a:rPr>
              <a:t>Upcoming</a:t>
            </a:r>
            <a:endParaRPr lang="en-US" sz="1150" dirty="0"/>
          </a:p>
        </p:txBody>
      </p:sp>
      <p:sp>
        <p:nvSpPr>
          <p:cNvPr id="21" name="Shape 19"/>
          <p:cNvSpPr/>
          <p:nvPr/>
        </p:nvSpPr>
        <p:spPr>
          <a:xfrm>
            <a:off x="11073384" y="3209544"/>
            <a:ext cx="256032" cy="256032"/>
          </a:xfrm>
          <a:prstGeom prst="ellipse">
            <a:avLst/>
          </a:prstGeom>
          <a:solidFill>
            <a:srgbClr val="AFD3EE"/>
          </a:solidFill>
          <a:ln w="31750">
            <a:solidFill>
              <a:srgbClr val="FFFFFF"/>
            </a:solidFill>
            <a:prstDash val="solid"/>
          </a:ln>
        </p:spPr>
      </p:sp>
      <p:sp>
        <p:nvSpPr>
          <p:cNvPr id="22" name="Text 20"/>
          <p:cNvSpPr/>
          <p:nvPr/>
        </p:nvSpPr>
        <p:spPr>
          <a:xfrm>
            <a:off x="10195560" y="1874520"/>
            <a:ext cx="2011680" cy="365760"/>
          </a:xfrm>
          <a:prstGeom prst="rect">
            <a:avLst/>
          </a:prstGeom>
          <a:noFill/>
          <a:ln/>
        </p:spPr>
        <p:txBody>
          <a:bodyPr wrap="square" rtlCol="0" anchor="ctr"/>
          <a:lstStyle/>
          <a:p>
            <a:pPr algn="ctr" indent="0" marL="0">
              <a:buNone/>
            </a:pPr>
            <a:r>
              <a:rPr lang="en-US" sz="1400" b="1" dirty="0">
                <a:solidFill>
                  <a:srgbClr val="0B3D91"/>
                </a:solidFill>
                <a:latin typeface="Calibri" pitchFamily="34" charset="0"/>
                <a:ea typeface="Calibri" pitchFamily="34" charset="-122"/>
                <a:cs typeface="Calibri" pitchFamily="34" charset="-120"/>
              </a:rPr>
              <a:t>Phase 8</a:t>
            </a:r>
            <a:endParaRPr lang="en-US" sz="1400" dirty="0"/>
          </a:p>
        </p:txBody>
      </p:sp>
      <p:sp>
        <p:nvSpPr>
          <p:cNvPr id="23" name="Text 21"/>
          <p:cNvSpPr/>
          <p:nvPr/>
        </p:nvSpPr>
        <p:spPr>
          <a:xfrm>
            <a:off x="10195560" y="2203704"/>
            <a:ext cx="2011680" cy="685800"/>
          </a:xfrm>
          <a:prstGeom prst="rect">
            <a:avLst/>
          </a:prstGeom>
          <a:noFill/>
          <a:ln/>
        </p:spPr>
        <p:txBody>
          <a:bodyPr wrap="square" rtlCol="0" anchor="ctr"/>
          <a:lstStyle/>
          <a:p>
            <a:pPr algn="ctr" indent="0" marL="0">
              <a:lnSpc>
                <a:spcPct val="115000"/>
              </a:lnSpc>
              <a:buNone/>
            </a:pPr>
            <a:r>
              <a:rPr lang="en-US" sz="1100" dirty="0">
                <a:solidFill>
                  <a:srgbClr val="1E3A5F"/>
                </a:solidFill>
                <a:latin typeface="Calibri" pitchFamily="34" charset="0"/>
                <a:ea typeface="Calibri" pitchFamily="34" charset="-122"/>
                <a:cs typeface="Calibri" pitchFamily="34" charset="-120"/>
              </a:rPr>
              <a:t>Testing hardening, UAT, deployment</a:t>
            </a:r>
            <a:endParaRPr lang="en-US" sz="1100" dirty="0"/>
          </a:p>
        </p:txBody>
      </p:sp>
      <p:sp>
        <p:nvSpPr>
          <p:cNvPr id="24" name="Text 22"/>
          <p:cNvSpPr/>
          <p:nvPr/>
        </p:nvSpPr>
        <p:spPr>
          <a:xfrm>
            <a:off x="10195560" y="2898648"/>
            <a:ext cx="2011680" cy="292608"/>
          </a:xfrm>
          <a:prstGeom prst="rect">
            <a:avLst/>
          </a:prstGeom>
          <a:noFill/>
          <a:ln/>
        </p:spPr>
        <p:txBody>
          <a:bodyPr wrap="square" rtlCol="0" anchor="ctr"/>
          <a:lstStyle/>
          <a:p>
            <a:pPr algn="ctr" indent="0" marL="0">
              <a:buNone/>
            </a:pPr>
            <a:r>
              <a:rPr lang="en-US" sz="1150" b="1" dirty="0">
                <a:solidFill>
                  <a:srgbClr val="5B7B99"/>
                </a:solidFill>
                <a:latin typeface="Calibri" pitchFamily="34" charset="0"/>
                <a:ea typeface="Calibri" pitchFamily="34" charset="-122"/>
                <a:cs typeface="Calibri" pitchFamily="34" charset="-120"/>
              </a:rPr>
              <a:t>Upcoming</a:t>
            </a:r>
            <a:endParaRPr lang="en-US" sz="1150" dirty="0"/>
          </a:p>
        </p:txBody>
      </p:sp>
      <p:sp>
        <p:nvSpPr>
          <p:cNvPr id="25" name="Shape 23"/>
          <p:cNvSpPr/>
          <p:nvPr/>
        </p:nvSpPr>
        <p:spPr>
          <a:xfrm>
            <a:off x="640080" y="5166360"/>
            <a:ext cx="10881360" cy="1234440"/>
          </a:xfrm>
          <a:prstGeom prst="roundRect">
            <a:avLst>
              <a:gd name="adj" fmla="val 7407"/>
            </a:avLst>
          </a:prstGeom>
          <a:solidFill>
            <a:srgbClr val="0B3D91"/>
          </a:solidFill>
          <a:ln/>
        </p:spPr>
      </p:sp>
      <p:sp>
        <p:nvSpPr>
          <p:cNvPr id="26" name="Text 24"/>
          <p:cNvSpPr/>
          <p:nvPr/>
        </p:nvSpPr>
        <p:spPr>
          <a:xfrm>
            <a:off x="914400" y="5349240"/>
            <a:ext cx="3657600" cy="274320"/>
          </a:xfrm>
          <a:prstGeom prst="rect">
            <a:avLst/>
          </a:prstGeom>
          <a:noFill/>
          <a:ln/>
        </p:spPr>
        <p:txBody>
          <a:bodyPr wrap="square" rtlCol="0" anchor="ctr"/>
          <a:lstStyle/>
          <a:p>
            <a:pPr indent="0" marL="0">
              <a:buNone/>
            </a:pPr>
            <a:r>
              <a:rPr lang="en-US" sz="1250" b="1" spc="120" kern="0" dirty="0">
                <a:solidFill>
                  <a:srgbClr val="38BDF8"/>
                </a:solidFill>
                <a:latin typeface="Calibri" pitchFamily="34" charset="0"/>
                <a:ea typeface="Calibri" pitchFamily="34" charset="-122"/>
                <a:cs typeface="Calibri" pitchFamily="34" charset="-120"/>
              </a:rPr>
              <a:t>IMMEDIATE NEXT STEPS</a:t>
            </a:r>
            <a:endParaRPr lang="en-US" sz="1250" dirty="0"/>
          </a:p>
        </p:txBody>
      </p:sp>
      <p:sp>
        <p:nvSpPr>
          <p:cNvPr id="27" name="Text 25"/>
          <p:cNvSpPr/>
          <p:nvPr/>
        </p:nvSpPr>
        <p:spPr>
          <a:xfrm>
            <a:off x="914400" y="5623560"/>
            <a:ext cx="10332720" cy="685800"/>
          </a:xfrm>
          <a:prstGeom prst="rect">
            <a:avLst/>
          </a:prstGeom>
          <a:noFill/>
          <a:ln/>
        </p:spPr>
        <p:txBody>
          <a:bodyPr wrap="square" rtlCol="0" anchor="ctr"/>
          <a:lstStyle/>
          <a:p>
            <a:pPr indent="0" marL="0">
              <a:lnSpc>
                <a:spcPct val="140000"/>
              </a:lnSpc>
              <a:buNone/>
            </a:pPr>
            <a:r>
              <a:rPr lang="en-US" sz="1300" dirty="0">
                <a:solidFill>
                  <a:srgbClr val="D6E6F5"/>
                </a:solidFill>
                <a:latin typeface="Calibri" pitchFamily="34" charset="0"/>
                <a:ea typeface="Calibri" pitchFamily="34" charset="-122"/>
                <a:cs typeface="Calibri" pitchFamily="34" charset="-120"/>
              </a:rPr>
              <a:t>1. Finish SLA breach automation &amp; alerts   2. Complete QA feedback scoring workflow   3. Wire up email notification delivery   4. Expand analytics drilldowns   5. Increase automated test coverage</a:t>
            </a:r>
            <a:endParaRPr lang="en-US" sz="1300" dirty="0"/>
          </a:p>
        </p:txBody>
      </p:sp>
      <p:sp>
        <p:nvSpPr>
          <p:cNvPr id="28" name="Text 26"/>
          <p:cNvSpPr/>
          <p:nvPr/>
        </p:nvSpPr>
        <p:spPr>
          <a:xfrm>
            <a:off x="457200" y="6492240"/>
            <a:ext cx="7315200" cy="274320"/>
          </a:xfrm>
          <a:prstGeom prst="rect">
            <a:avLst/>
          </a:prstGeom>
          <a:noFill/>
          <a:ln/>
        </p:spPr>
        <p:txBody>
          <a:bodyPr wrap="square" rtlCol="0" anchor="ctr"/>
          <a:lstStyle/>
          <a:p>
            <a:pPr indent="0" marL="0">
              <a:buNone/>
            </a:pPr>
            <a:r>
              <a:rPr lang="en-US" sz="1100" dirty="0">
                <a:solidFill>
                  <a:srgbClr val="5B7B99"/>
                </a:solidFill>
                <a:latin typeface="Calibri" pitchFamily="34" charset="0"/>
                <a:ea typeface="Calibri" pitchFamily="34" charset="-122"/>
                <a:cs typeface="Calibri" pitchFamily="34" charset="-120"/>
              </a:rPr>
              <a:t>ParSU e-Feedback System  |  Development Progress Report</a:t>
            </a:r>
            <a:endParaRPr lang="en-US" sz="1100" dirty="0"/>
          </a:p>
        </p:txBody>
      </p:sp>
      <p:sp>
        <p:nvSpPr>
          <p:cNvPr id="29" name="Text 27"/>
          <p:cNvSpPr/>
          <p:nvPr/>
        </p:nvSpPr>
        <p:spPr>
          <a:xfrm>
            <a:off x="11430000" y="6492240"/>
            <a:ext cx="457200" cy="274320"/>
          </a:xfrm>
          <a:prstGeom prst="rect">
            <a:avLst/>
          </a:prstGeom>
          <a:noFill/>
          <a:ln/>
        </p:spPr>
        <p:txBody>
          <a:bodyPr wrap="square" rtlCol="0" anchor="ctr"/>
          <a:lstStyle/>
          <a:p>
            <a:pPr algn="r" indent="0" marL="0">
              <a:buNone/>
            </a:pPr>
            <a:r>
              <a:rPr lang="en-US" sz="1100" dirty="0">
                <a:solidFill>
                  <a:srgbClr val="5B7B99"/>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D91"/>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38BDF8">
              <a:alpha val="22000"/>
            </a:srgbClr>
          </a:solidFill>
          <a:ln/>
        </p:spPr>
      </p:sp>
      <p:sp>
        <p:nvSpPr>
          <p:cNvPr id="3" name="Text 1"/>
          <p:cNvSpPr/>
          <p:nvPr/>
        </p:nvSpPr>
        <p:spPr>
          <a:xfrm>
            <a:off x="822960" y="2331720"/>
            <a:ext cx="9144000" cy="91440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We're Halfway There</a:t>
            </a:r>
            <a:endParaRPr lang="en-US" sz="4200" dirty="0"/>
          </a:p>
        </p:txBody>
      </p:sp>
      <p:sp>
        <p:nvSpPr>
          <p:cNvPr id="4" name="Text 2"/>
          <p:cNvSpPr/>
          <p:nvPr/>
        </p:nvSpPr>
        <p:spPr>
          <a:xfrm>
            <a:off x="868680" y="3337560"/>
            <a:ext cx="8046720" cy="1051560"/>
          </a:xfrm>
          <a:prstGeom prst="rect">
            <a:avLst/>
          </a:prstGeom>
          <a:noFill/>
          <a:ln/>
        </p:spPr>
        <p:txBody>
          <a:bodyPr wrap="square" rtlCol="0" anchor="ctr"/>
          <a:lstStyle/>
          <a:p>
            <a:pPr indent="0" marL="0">
              <a:lnSpc>
                <a:spcPct val="135000"/>
              </a:lnSpc>
              <a:buNone/>
            </a:pPr>
            <a:r>
              <a:rPr lang="en-US" sz="1600" dirty="0">
                <a:solidFill>
                  <a:srgbClr val="CFE6F7"/>
                </a:solidFill>
                <a:latin typeface="Calibri" pitchFamily="34" charset="0"/>
                <a:ea typeface="Calibri" pitchFamily="34" charset="-122"/>
                <a:cs typeface="Calibri" pitchFamily="34" charset="-120"/>
              </a:rPr>
              <a:t>The core platform — authentication, complaint submission, and staff resolution — is live and working. The next phase focuses on analytics, automation, and reporting to bring ParSU e-Feedback to full completion.</a:t>
            </a:r>
            <a:endParaRPr lang="en-US" sz="1600" dirty="0"/>
          </a:p>
        </p:txBody>
      </p:sp>
      <p:sp>
        <p:nvSpPr>
          <p:cNvPr id="5" name="Text 3"/>
          <p:cNvSpPr/>
          <p:nvPr/>
        </p:nvSpPr>
        <p:spPr>
          <a:xfrm>
            <a:off x="822960" y="4709160"/>
            <a:ext cx="5486400" cy="548640"/>
          </a:xfrm>
          <a:prstGeom prst="rect">
            <a:avLst/>
          </a:prstGeom>
          <a:noFill/>
          <a:ln/>
        </p:spPr>
        <p:txBody>
          <a:bodyPr wrap="square" rtlCol="0" anchor="ctr"/>
          <a:lstStyle/>
          <a:p>
            <a:pPr indent="0" marL="0">
              <a:buNone/>
            </a:pPr>
            <a:r>
              <a:rPr lang="en-US" sz="2400" b="1" dirty="0">
                <a:solidFill>
                  <a:srgbClr val="38BDF8"/>
                </a:solidFill>
                <a:latin typeface="Calibri" pitchFamily="34" charset="0"/>
                <a:ea typeface="Calibri" pitchFamily="34" charset="-122"/>
                <a:cs typeface="Calibri" pitchFamily="34" charset="-120"/>
              </a:rPr>
              <a:t>Thank you</a:t>
            </a:r>
            <a:endParaRPr lang="en-US" sz="2400" dirty="0"/>
          </a:p>
        </p:txBody>
      </p:sp>
      <p:sp>
        <p:nvSpPr>
          <p:cNvPr id="6" name="Text 4"/>
          <p:cNvSpPr/>
          <p:nvPr/>
        </p:nvSpPr>
        <p:spPr>
          <a:xfrm>
            <a:off x="822960" y="5230368"/>
            <a:ext cx="5486400" cy="365760"/>
          </a:xfrm>
          <a:prstGeom prst="rect">
            <a:avLst/>
          </a:prstGeom>
          <a:noFill/>
          <a:ln/>
        </p:spPr>
        <p:txBody>
          <a:bodyPr wrap="square" rtlCol="0" anchor="ctr"/>
          <a:lstStyle/>
          <a:p>
            <a:pPr indent="0" marL="0">
              <a:buNone/>
            </a:pPr>
            <a:r>
              <a:rPr lang="en-US" sz="1400" dirty="0">
                <a:solidFill>
                  <a:srgbClr val="AFD3EE"/>
                </a:solidFill>
                <a:latin typeface="Calibri" pitchFamily="34" charset="0"/>
                <a:ea typeface="Calibri" pitchFamily="34" charset="-122"/>
                <a:cs typeface="Calibri" pitchFamily="34" charset="-120"/>
              </a:rPr>
              <a:t>Questions &amp; discussion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ParSU e-Feedback System — Progress Report</dc:title>
  <dc:subject>PptxGenJS Presentation</dc:subject>
  <dc:creator>ParSU e-Feedback Development Team</dc:creator>
  <cp:lastModifiedBy>ParSU e-Feedback Development Team</cp:lastModifiedBy>
  <cp:revision>1</cp:revision>
  <dcterms:created xsi:type="dcterms:W3CDTF">2026-08-18T12:03:50Z</dcterms:created>
  <dcterms:modified xsi:type="dcterms:W3CDTF">2026-08-18T12:03:50Z</dcterms:modified>
</cp:coreProperties>
</file>